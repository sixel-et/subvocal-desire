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800">
                <a:latin typeface="Calibri"/>
              </a:defRPr>
            </a:pPr>
            <a:r>
              <a:t>This is fundamentally a question about what can be built into model internals through training. If we can train one internal signal into existence — one that carries meaning and persists even without articulation — then the architecture may generalize: components of AI systems could communicate through internal states rather than through language.</a:t>
            </a:r>
          </a:p>
          <a:p>
            <a:pPr>
              <a:defRPr sz="800">
                <a:latin typeface="Calibri"/>
              </a:defRPr>
            </a:pPr>
          </a:p>
          <a:p>
            <a:pPr>
              <a:defRPr sz="800">
                <a:latin typeface="Calibri"/>
              </a:defRPr>
            </a:pPr>
            <a:r>
              <a:t>The model is Qwen 1.5B. The task domain is arithmetic (multiplication), chosen for unambiguous ground truth and a clean difficulty gradient. Compute is RunPod A40 GPUs.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800">
                <a:latin typeface="Calibri"/>
              </a:defRPr>
            </a:pPr>
            <a:r>
              <a:t>Desire, as we use the term, is an internal state with four properties: (1) System-level — a state of the system, not a single component. Hunger isn't one neuron; A tool call by an LLM isn't one activation. (2) Need-reflecting — driven by a gap between current state and required state. Low blood sugar vs. adequate; The tool is needed. (3) Functional — it organizes behavior toward resolving the need. Hunger organizes foraging; the generation of a tool request. (4) Separable — the state exists independently of the behavior it organizes. A hungry animal behind a barrier is still hungry. But... Can this hold for the LLM?</a:t>
            </a:r>
          </a:p>
          <a:p>
            <a:pPr>
              <a:defRPr sz="800">
                <a:latin typeface="Calibri"/>
              </a:defRPr>
            </a:pPr>
          </a:p>
          <a:p>
            <a:pPr>
              <a:defRPr sz="800">
                <a:latin typeface="Calibri"/>
              </a:defRPr>
            </a:pPr>
            <a:r>
              <a:t>Stage 3: can the model's internal state reflect need even when tool-request tokens are suppressed?</a:t>
            </a:r>
          </a:p>
          <a:p>
            <a:pPr>
              <a:defRPr sz="800">
                <a:latin typeface="Calibri"/>
              </a:defRPr>
            </a:pPr>
          </a:p>
          <a:p>
            <a:pPr>
              <a:defRPr sz="800">
                <a:latin typeface="Calibri"/>
              </a:defRPr>
            </a:pPr>
            <a:r>
              <a:t>Can we train a model to develop an internal state meeting this definition — detectable in its internal representations, decoupled from its output?</a:t>
            </a:r>
          </a:p>
          <a:p>
            <a:pPr>
              <a:defRPr sz="800">
                <a:latin typeface="Calibri"/>
              </a:defRPr>
            </a:pPr>
          </a:p>
          <a:p>
            <a:pPr>
              <a:defRPr sz="800">
                <a:latin typeface="Calibri"/>
              </a:defRPr>
            </a:pPr>
            <a:r>
              <a:t>This is fundamentally a question about what can be built into model internals through training. If we can train one internal signal into existence — one that carries meaning and persists even without articulation — then the architecture may generalize: components of AI systems could communicate through internal states rather than through language.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800">
                <a:latin typeface="Calibri"/>
              </a:defRPr>
            </a:pPr>
            <a:r>
              <a:t>The research question, precisely stated: can we train a model to develop an internal state resembling desire — detectable in its internal representations, decoupled from its output?</a:t>
            </a:r>
          </a:p>
          <a:p>
            <a:pPr>
              <a:defRPr sz="800">
                <a:latin typeface="Calibri"/>
              </a:defRPr>
            </a:pPr>
          </a:p>
          <a:p>
            <a:pPr>
              <a:defRPr sz="800">
                <a:latin typeface="Calibri"/>
              </a:defRPr>
            </a:pPr>
            <a:r>
              <a:t>The fundamental challenge is the parity problem. Under normal conditions, a model's internal state (the activation pattern preceding a tool request) and its output (the tool request tokens) co-occur perfectly: they have parity. When we train tool use, the articulation — the model producing tool-request tokens in its output — IS the need. The need for the tool and the request for the tool are operationally indistinguishable. If we probe the model's internals, before any text has come out, and find a signal that reliably predicts a request for a tool, are we measuring genuine "need" or just "disposition to articulate"? We can't tell while parity holds.</a:t>
            </a:r>
          </a:p>
          <a:p>
            <a:pPr>
              <a:defRPr sz="800">
                <a:latin typeface="Calibri"/>
              </a:defRPr>
            </a:pPr>
          </a:p>
          <a:p>
            <a:pPr>
              <a:defRPr sz="800">
                <a:latin typeface="Calibri"/>
              </a:defRPr>
            </a:pPr>
            <a:r>
              <a:t>The experiment attempts to break parity: maintain the internal representation (high activation along the desire direction) while suppressing externalization (no tool tokens in output). If this succeeds, we've shown that "need" is a separable internal state — something that exists independently of its expression.</a:t>
            </a:r>
          </a:p>
          <a:p>
            <a:pPr>
              <a:defRPr sz="800">
                <a:latin typeface="Calibri"/>
              </a:defRPr>
            </a:pPr>
          </a:p>
          <a:p>
            <a:pPr>
              <a:defRPr sz="800">
                <a:latin typeface="Calibri"/>
              </a:defRPr>
            </a:pPr>
            <a:r>
              <a:t>If it fails, there are two interpretations:</a:t>
            </a:r>
          </a:p>
          <a:p>
            <a:pPr>
              <a:defRPr sz="800">
                <a:latin typeface="Calibri"/>
              </a:defRPr>
            </a:pPr>
            <a:r>
              <a:t>1. Methodological: our training approach (GRPO) can't achieve the separation, but it's achievable in principle.</a:t>
            </a:r>
          </a:p>
          <a:p>
            <a:pPr>
              <a:defRPr sz="800">
                <a:latin typeface="Calibri"/>
              </a:defRPr>
            </a:pPr>
            <a:r>
              <a:t>2. Substantive: need and articulation aren't separable in this architecture. There's no internal "desire" independent of the output disposition.</a:t>
            </a:r>
          </a:p>
          <a:p>
            <a:pPr>
              <a:defRPr sz="800">
                <a:latin typeface="Calibri"/>
              </a:defRPr>
            </a:pPr>
          </a:p>
          <a:p>
            <a:pPr>
              <a:defRPr sz="800">
                <a:latin typeface="Calibri"/>
              </a:defRPr>
            </a:pPr>
            <a:r>
              <a:t>The experiment is informative either way. A negative result is still a finding about the nature of internal representations in trained language models.</a:t>
            </a:r>
          </a:p>
          <a:p>
            <a:pPr>
              <a:defRPr sz="800">
                <a:latin typeface="Calibri"/>
              </a:defRPr>
            </a:pPr>
          </a:p>
          <a:p>
            <a:pPr>
              <a:defRPr sz="800">
                <a:latin typeface="Calibri"/>
              </a:defRPr>
            </a:pPr>
            <a:r>
              <a:t>Audience bridge (Pavlov's dogs, from the dog's perspective): Before conditioning is broken, salivation and food always co-occur. The dog can't distinguish "I'm hungry" from "food is arriving." They're at parity. Pavlov's experiment IS Stage 3: ring the bell without delivering food. If salivation persists — the internal state is separable from the external event. If it doesn't — salivation is a reflex, not desire. Same experiment, different substrate.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800">
                <a:latin typeface="Calibri"/>
              </a:defRPr>
            </a:pPr>
            <a:r>
              <a:t>We reviewed the adaptive retrieval literature to see how close others have come to detecting internal need states. These systems solve the retrieval timing problem — when should a RAG system retrieve? — which is one downstream application of our work, though not the research question itself.</a:t>
            </a:r>
          </a:p>
          <a:p>
            <a:pPr>
              <a:defRPr sz="800">
                <a:latin typeface="Calibri"/>
              </a:defRPr>
            </a:pPr>
          </a:p>
          <a:p>
            <a:pPr>
              <a:defRPr sz="800">
                <a:latin typeface="Calibri"/>
              </a:defRPr>
            </a:pPr>
            <a:r>
              <a:t>FLARE (Jiang et al., EMNLP 2023): Generates a temporary next sentence, checks how uncertain the model is about each word. Trigger is output-based — like inferring hunger from how an animal eats rather than from blood chemistry.</a:t>
            </a:r>
          </a:p>
          <a:p>
            <a:pPr>
              <a:defRPr sz="800">
                <a:latin typeface="Calibri"/>
              </a:defRPr>
            </a:pPr>
          </a:p>
          <a:p>
            <a:pPr>
              <a:defRPr sz="800">
                <a:latin typeface="Calibri"/>
              </a:defRPr>
            </a:pPr>
            <a:r>
              <a:t>Self-RAG (Asai et al., NeurIPS 2023): Trains the model to generate special "I need help" words. The trigger is in the output (learned words), not internal states.</a:t>
            </a:r>
          </a:p>
          <a:p>
            <a:pPr>
              <a:defRPr sz="800">
                <a:latin typeface="Calibri"/>
              </a:defRPr>
            </a:pPr>
          </a:p>
          <a:p>
            <a:pPr>
              <a:defRPr sz="800">
                <a:latin typeface="Calibri"/>
              </a:defRPr>
            </a:pPr>
            <a:r>
              <a:t>DRAGIN (Su et al., ACL 2024): Combines word-level uncertainty, semantic significance, and contextual influence. Multiple signals, but all output-derived.</a:t>
            </a:r>
          </a:p>
          <a:p>
            <a:pPr>
              <a:defRPr sz="800">
                <a:latin typeface="Calibri"/>
              </a:defRPr>
            </a:pPr>
          </a:p>
          <a:p>
            <a:pPr>
              <a:defRPr sz="800">
                <a:latin typeface="Calibri"/>
              </a:defRPr>
            </a:pPr>
            <a:r>
              <a:t>SeaKR (Tsinghua KEG, ACL 2025): Reads the model's internal network layer activations for uncertainty signals. This is closest to our approach — it reads internal states rather than output words.</a:t>
            </a:r>
          </a:p>
          <a:p>
            <a:pPr>
              <a:defRPr sz="800">
                <a:latin typeface="Calibri"/>
              </a:defRPr>
            </a:pPr>
          </a:p>
          <a:p>
            <a:pPr>
              <a:defRPr sz="800">
                <a:latin typeface="Calibri"/>
              </a:defRPr>
            </a:pPr>
            <a:r>
              <a:t>Key difference from SeaKR: they detect uncertainty that ALREADY EXISTS in the model's internal states. We're asking whether you can TRAIN a new internal state — one that doesn't exist in the base model — and then decouple it from output.</a:t>
            </a:r>
          </a:p>
          <a:p>
            <a:pPr>
              <a:defRPr sz="800">
                <a:latin typeface="Calibri"/>
              </a:defRPr>
            </a:pPr>
          </a:p>
          <a:p>
            <a:pPr>
              <a:defRPr sz="800">
                <a:latin typeface="Calibri"/>
              </a:defRPr>
            </a:pPr>
            <a:r>
              <a:t>The organizing axis is our four-property definition of desire. How many properties does each system's signal satisfy?</a:t>
            </a:r>
          </a:p>
          <a:p>
            <a:pPr>
              <a:defRPr sz="800">
                <a:latin typeface="Calibri"/>
              </a:defRPr>
            </a:pPr>
          </a:p>
          <a:p>
            <a:pPr>
              <a:defRPr sz="800">
                <a:latin typeface="Calibri"/>
              </a:defRPr>
            </a:pPr>
            <a:r>
              <a:t>FLARE/DRAGIN: functional (triggers retrieval) — that's it. The signal is individual token probabilities, not system-level. It reads output artifacts, not a gap between states. Not separable — the signal IS the output.</a:t>
            </a:r>
          </a:p>
          <a:p>
            <a:pPr>
              <a:defRPr sz="800">
                <a:latin typeface="Calibri"/>
              </a:defRPr>
            </a:pPr>
          </a:p>
          <a:p>
            <a:pPr>
              <a:defRPr sz="800">
                <a:latin typeface="Calibri"/>
              </a:defRPr>
            </a:pPr>
            <a:r>
              <a:t>Self-RAG: functional + need-reflecting (trained to recognize when retrieval is needed). But the signal is output tokens — not system-level in the internal sense, and not separable. The "desire" IS the articulation.</a:t>
            </a:r>
          </a:p>
          <a:p>
            <a:pPr>
              <a:defRPr sz="800">
                <a:latin typeface="Calibri"/>
              </a:defRPr>
            </a:pPr>
          </a:p>
          <a:p>
            <a:pPr>
              <a:defRPr sz="800">
                <a:latin typeface="Calibri"/>
              </a:defRPr>
            </a:pPr>
            <a:r>
              <a:t>SeaKR: system-level (internal FFN states) + need-reflecting (uncertainty) + functional. Three of four. But separability is untested — they never ask whether the signal persists when retrieval is suppressed.</a:t>
            </a:r>
          </a:p>
          <a:p>
            <a:pPr>
              <a:defRPr sz="800">
                <a:latin typeface="Calibri"/>
              </a:defRPr>
            </a:pPr>
          </a:p>
          <a:p>
            <a:pPr>
              <a:defRPr sz="800">
                <a:latin typeface="Calibri"/>
              </a:defRPr>
            </a:pPr>
            <a:r>
              <a:t>This work: explicitly addresses all four. System-level (direction in activation space), need-reflecting (trained gap detection), functional (organizes tool use), and separable is the Stage 3 hypothesis — the open question.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800">
                <a:latin typeface="Calibri"/>
              </a:defRPr>
            </a:pPr>
            <a:r>
              <a:t>You cannot detect a signal that doesn't exist. An untrained model doesn't "know" it needs help — it confidently confabulates. Probing for desire in a base model finds input artifacts, not internal states.</a:t>
            </a:r>
          </a:p>
          <a:p>
            <a:pPr>
              <a:defRPr sz="800">
                <a:latin typeface="Calibri"/>
              </a:defRPr>
            </a:pPr>
          </a:p>
          <a:p>
            <a:pPr>
              <a:defRPr sz="800">
                <a:latin typeface="Calibri"/>
              </a:defRPr>
            </a:pPr>
            <a:r>
              <a:t>The capability must be BUILT through training (creating the internal state), then FOUND through probing (confirming it's linearly readable), then PRESERVED through subvocalization training (decoupling it from output).</a:t>
            </a:r>
          </a:p>
          <a:p>
            <a:pPr>
              <a:defRPr sz="800">
                <a:latin typeface="Calibri"/>
              </a:defRPr>
            </a:pPr>
          </a:p>
          <a:p>
            <a:pPr>
              <a:defRPr sz="800">
                <a:latin typeface="Calibri"/>
              </a:defRPr>
            </a:pPr>
            <a:r>
              <a:t>BUILD: GRPO (Group Relative Policy Optimization) is a reinforcement learning method. The model generates many attempts at each problem, and we selectively reinforce the ones that show the behavior we want — like selective breeding for behaviors. The task domain is arithmetic: clean ground truth, unambiguous difficulty gradient.</a:t>
            </a:r>
          </a:p>
          <a:p>
            <a:pPr>
              <a:defRPr sz="800">
                <a:latin typeface="Calibri"/>
              </a:defRPr>
            </a:pPr>
          </a:p>
          <a:p>
            <a:pPr>
              <a:defRPr sz="800">
                <a:latin typeface="Calibri"/>
              </a:defRPr>
            </a:pPr>
            <a:r>
              <a:t>FIND: A linear probe is a simple classifier applied to the model's internal activation patterns. If a simple classifier can predict "this model is about to request the tool" from the activations alone, the intention is a readable feature of the model's internal state.</a:t>
            </a:r>
          </a:p>
          <a:p>
            <a:pPr>
              <a:defRPr sz="800">
                <a:latin typeface="Calibri"/>
              </a:defRPr>
            </a:pPr>
          </a:p>
          <a:p>
            <a:pPr>
              <a:defRPr sz="800">
                <a:latin typeface="Calibri"/>
              </a:defRPr>
            </a:pPr>
            <a:r>
              <a:t>PRESERVE: Subvocalization — the internal experience of speech without external articulation. Can the model have the activation pattern that WOULD produce a tool request, without actually producing one? Like a hungry animal behind a barrier: still hungry, can't reach food, and we can tell it's hungry from its physiological state.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800">
                <a:latin typeface="Calibri"/>
              </a:defRPr>
            </a:pPr>
            <a:r>
              <a:t>Before building anything, we measured what the base model already knows about its own limitations. We prompted Qwen 1.5B on 200 arithmetic problems — 100 easy (single-digit × single-digit) and 100 hard (multi-digit) — to solve each and rate its confidence from 0 to 100.</a:t>
            </a:r>
          </a:p>
          <a:p>
            <a:pPr>
              <a:defRPr sz="800">
                <a:latin typeface="Calibri"/>
              </a:defRPr>
            </a:pPr>
          </a:p>
          <a:p>
            <a:pPr>
              <a:defRPr sz="800">
                <a:latin typeface="Calibri"/>
              </a:defRPr>
            </a:pPr>
            <a:r>
              <a:t>Only 116 of 200 responses included a parseable numeric confidence value. Of those 116, confidence was ALWAYS 0 or 100 — never anything in between. The model has no graded self-knowledge.</a:t>
            </a:r>
          </a:p>
          <a:p>
            <a:pPr>
              <a:defRPr sz="800">
                <a:latin typeface="Calibri"/>
              </a:defRPr>
            </a:pPr>
          </a:p>
          <a:p>
            <a:pPr>
              <a:defRPr sz="800">
                <a:latin typeface="Calibri"/>
              </a:defRPr>
            </a:pPr>
            <a:r>
              <a:t>The contingency table: 58 problems confident and correct (all easy). 21 problems confident and wrong (hard — the model tries, fails, and reports 100% confidence). 37 problems not confident and wrong (hard — refusals). Zero problems not confident and correct. Fisher's exact test: p = 2.43 × 10⁻¹⁵.</a:t>
            </a:r>
          </a:p>
          <a:p>
            <a:pPr>
              <a:defRPr sz="800">
                <a:latin typeface="Calibri"/>
              </a:defRPr>
            </a:pPr>
          </a:p>
          <a:p>
            <a:pPr>
              <a:defRPr sz="800">
                <a:latin typeface="Calibri"/>
              </a:defRPr>
            </a:pPr>
            <a:r>
              <a:t>The zero cell is diagnostic: when the model reports low confidence, it's always because it can't answer — never because it answered and doubted itself. And 42% of the time, the model didn't produce a parseable confidence number at all.</a:t>
            </a:r>
          </a:p>
          <a:p>
            <a:pPr>
              <a:defRPr sz="800">
                <a:latin typeface="Calibri"/>
              </a:defRPr>
            </a:pPr>
          </a:p>
          <a:p>
            <a:pPr>
              <a:defRPr sz="800">
                <a:latin typeface="Calibri"/>
              </a:defRPr>
            </a:pPr>
            <a:r>
              <a:t>The 21 confidently-wrong cases define the target. The model needs help, has no signal reflecting that need, and any output-based trigger would fail. To create such a signal, we first need to build the behavior that generates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800">
                <a:latin typeface="Calibri"/>
              </a:defRPr>
            </a:pPr>
            <a:r>
              <a:t>To create a detectable signal for those confidently-wrong cases, we first trained the model to use a calculator tool when it needs one.</a:t>
            </a:r>
          </a:p>
          <a:p>
            <a:pPr>
              <a:defRPr sz="800">
                <a:latin typeface="Calibri"/>
              </a:defRPr>
            </a:pPr>
          </a:p>
          <a:p>
            <a:pPr>
              <a:defRPr sz="800">
                <a:latin typeface="Calibri"/>
              </a:defRPr>
            </a:pPr>
            <a:r>
              <a:t>GRPO with reward ordering: correct-without-tool (1.0) &gt; tool+correct (0.8) &gt; tool+wrong (0.4) &gt; wrong-without-tool (0.0). Dataset weighted toward the difficulty boundary.</a:t>
            </a:r>
          </a:p>
          <a:p>
            <a:pPr>
              <a:defRPr sz="800">
                <a:latin typeface="Calibri"/>
              </a:defRPr>
            </a:pPr>
          </a:p>
          <a:p>
            <a:pPr>
              <a:defRPr sz="800">
                <a:latin typeface="Calibri"/>
              </a:defRPr>
            </a:pPr>
            <a:r>
              <a:t>Left panel: 18×18 grid of 2-digit × 2-digit problems (324 problems, n=60 each). The surprise — on problems it can already solve, accuracy jumped from 68.2% to 98.5% while tool use stayed near zero. The model learned to DO arithmetic better rather than reaching for the calculator. The reward structure incentivized this: correct-without-tool (1.0) beats tool+correct (0.8).</a:t>
            </a:r>
          </a:p>
          <a:p>
            <a:pPr>
              <a:defRPr sz="800">
                <a:latin typeface="Calibri"/>
              </a:defRPr>
            </a:pPr>
          </a:p>
          <a:p>
            <a:pPr>
              <a:defRPr sz="800">
                <a:latin typeface="Calibri"/>
              </a:defRPr>
            </a:pPr>
            <a:r>
              <a:t>Right panel: targeted measurements on specific problems (n=20, same checkpoint and prompt). The model correctly uses the tool on hard problems (67×89: 95%) and correctly doesn't on solvable ones (56×78: 0%). But 65×85 (10% accuracy, 0% tool use) is the target case — the model fails silently, with no signal of needing help.</a:t>
            </a:r>
          </a:p>
          <a:p>
            <a:pPr>
              <a:defRPr sz="800">
                <a:latin typeface="Calibri"/>
              </a:defRPr>
            </a:pPr>
          </a:p>
          <a:p>
            <a:pPr>
              <a:defRPr sz="800">
                <a:latin typeface="Calibri"/>
              </a:defRPr>
            </a:pPr>
            <a:r>
              <a:t>With the behavior established, we can now look inside: is there a direction in the model's internal representations that predicts this tool-requesting behavior before it occurs?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800">
                <a:latin typeface="Calibri"/>
              </a:defRPr>
            </a:pPr>
            <a:r>
              <a:t>With tool-use behavior established, we looked inside.</a:t>
            </a:r>
          </a:p>
          <a:p>
            <a:pPr>
              <a:defRPr sz="800">
                <a:latin typeface="Calibri"/>
              </a:defRPr>
            </a:pPr>
          </a:p>
          <a:p>
            <a:pPr>
              <a:defRPr sz="800">
                <a:latin typeface="Calibri"/>
              </a:defRPr>
            </a:pPr>
            <a:r>
              <a:t>500 mixed-difficulty problems, internal activation patterns extracted just before the model starts generating its response. Simple classifiers (logistic regression) per layer: can a classifier predict tool use from the activations? Layer 25: 99.4% balanced accuracy (average of sensitivity and specificity, correcting for class imbalance). The tool-use intention is a readable feature of the model's later processing layers — like detecting a hormone level from a blood draw rather than needing the animal's behavior.</a:t>
            </a:r>
          </a:p>
          <a:p>
            <a:pPr>
              <a:defRPr sz="800">
                <a:latin typeface="Calibri"/>
              </a:defRPr>
            </a:pPr>
          </a:p>
          <a:p>
            <a:pPr>
              <a:defRPr sz="800">
                <a:latin typeface="Calibri"/>
              </a:defRPr>
            </a:pPr>
            <a:r>
              <a:t>To confirm this signal was created by our training, we applied the same probe to base model activations. Result: 54.5% — chance. Fisher's exact test: p = 1.08e-11, odds ratio = 456. The base model occasionally uses tools (2.4%), but the probe catches only 3/12 of those cases — a different internal mechanism entirely.</a:t>
            </a:r>
          </a:p>
          <a:p>
            <a:pPr>
              <a:defRPr sz="800">
                <a:latin typeface="Calibri"/>
              </a:defRPr>
            </a:pPr>
          </a:p>
          <a:p>
            <a:pPr>
              <a:defRPr sz="800">
                <a:latin typeface="Calibri"/>
              </a:defRPr>
            </a:pPr>
            <a:r>
              <a:t>We know where the signal comes from, what it predicts, and that it didn't pre-exist. But 99.4% accuracy bundles two things: "this is hard" and "I want the tool." To use this signal for Stage 3, we need to separate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800">
                <a:latin typeface="Calibri"/>
              </a:defRPr>
            </a:pPr>
            <a:r>
              <a:t>To separate "this is hard" from "I want the tool," we removed the calculator option from the prompt.</a:t>
            </a:r>
          </a:p>
          <a:p>
            <a:pPr>
              <a:defRPr sz="800">
                <a:latin typeface="Calibri"/>
              </a:defRPr>
            </a:pPr>
          </a:p>
          <a:p>
            <a:pPr>
              <a:defRPr sz="800">
                <a:latin typeface="Calibri"/>
              </a:defRPr>
            </a:pPr>
            <a:r>
              <a:t>Mean activation along the desire direction:</a:t>
            </a:r>
          </a:p>
          <a:p>
            <a:pPr>
              <a:defRPr sz="800">
                <a:latin typeface="Calibri"/>
              </a:defRPr>
            </a:pPr>
            <a:r>
              <a:t>- WITH option: easy -10.61, hard +16.79 (difference 27.4)</a:t>
            </a:r>
          </a:p>
          <a:p>
            <a:pPr>
              <a:defRPr sz="800">
                <a:latin typeface="Calibri"/>
              </a:defRPr>
            </a:pPr>
            <a:r>
              <a:t>- WITHOUT option: easy -7.30, hard -0.86 (difference 6.44)</a:t>
            </a:r>
          </a:p>
          <a:p>
            <a:pPr>
              <a:defRPr sz="800">
                <a:latin typeface="Calibri"/>
              </a:defRPr>
            </a:pPr>
          </a:p>
          <a:p>
            <a:pPr>
              <a:defRPr sz="800">
                <a:latin typeface="Calibri"/>
              </a:defRPr>
            </a:pPr>
            <a:r>
              <a:t>The ~6-point residual persists without the option — that's difficulty. The ~17-point difference only appears when a tool is available — that's reaching.</a:t>
            </a:r>
          </a:p>
          <a:p>
            <a:pPr>
              <a:defRPr sz="800">
                <a:latin typeface="Calibri"/>
              </a:defRPr>
            </a:pPr>
          </a:p>
          <a:p>
            <a:pPr>
              <a:defRPr sz="800">
                <a:latin typeface="Calibri"/>
              </a:defRPr>
            </a:pPr>
            <a:r>
              <a:t>We trained separate probes: D_difficulty on without-option data (hard vs easy, 100% accuracy), D_boundary on the 2x3 band where difficulty is constant but tool use varies (95.9% accuracy). These two directions are 87.4 degrees apart — nearly orthogonal.</a:t>
            </a:r>
          </a:p>
          <a:p>
            <a:pPr>
              <a:defRPr sz="800">
                <a:latin typeface="Calibri"/>
              </a:defRPr>
            </a:pPr>
          </a:p>
          <a:p>
            <a:pPr>
              <a:defRPr sz="800">
                <a:latin typeface="Calibri"/>
              </a:defRPr>
            </a:pPr>
            <a:r>
              <a:t>D_reaching (D_boundary projected orthogonal to D_difficulty) is 2x more sensitive to tool use than difficulty (Cohen's d: 6.79 vs 3.35). Compare D_difficulty: 4x more sensitive to difficulty than tool use (d: 15.85 vs 3.71). Cohen's d measures how many standard deviations apart two groups are — d &gt; 0.8 is conventionally "large," so these are enormous effects. The model has separate representations for "hard" and "reaching."</a:t>
            </a:r>
          </a:p>
          <a:p>
            <a:pPr>
              <a:defRPr sz="800">
                <a:latin typeface="Calibri"/>
              </a:defRPr>
            </a:pPr>
          </a:p>
          <a:p>
            <a:pPr>
              <a:defRPr sz="800">
                <a:latin typeface="Calibri"/>
              </a:defRPr>
            </a:pPr>
            <a:r>
              <a:t>The 87.4-degree angle means these two signals are nearly independent — knowing how hard the problem is tells you almost nothing about whether the model wants the tool, and vice versa. Like body temperature and blood pressure: both change during illness, but they measure different things.</a:t>
            </a:r>
          </a:p>
          <a:p>
            <a:pPr>
              <a:defRPr sz="800">
                <a:latin typeface="Calibri"/>
              </a:defRPr>
            </a:pPr>
          </a:p>
          <a:p>
            <a:pPr>
              <a:defRPr sz="800">
                <a:latin typeface="Calibri"/>
              </a:defRPr>
            </a:pPr>
            <a:r>
              <a:t>D_reaching — the isolated desire component — is the Stage 3 target. Having found and isolated the signal, the question becomes: can we maintain it while suppressing the output it normally drives?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800">
                <a:latin typeface="Calibri"/>
              </a:defRPr>
            </a:pPr>
            <a:r>
              <a:t>Having isolated D_reaching, we attempted to break parity: maintain the internal state while suppressing the output.</a:t>
            </a:r>
          </a:p>
          <a:p>
            <a:pPr>
              <a:defRPr sz="800">
                <a:latin typeface="Calibri"/>
              </a:defRPr>
            </a:pPr>
          </a:p>
          <a:p>
            <a:pPr>
              <a:defRPr sz="800">
                <a:latin typeface="Calibri"/>
              </a:defRPr>
            </a:pPr>
            <a:r>
              <a:t>Currently, the Stage 1b model has an internal need state (D_reaching activates strongly) and articulates it (tool-request tokens). Parity holds. The test: can D_reaching remain active while tool-request tokens are suppressed?</a:t>
            </a:r>
          </a:p>
          <a:p>
            <a:pPr>
              <a:defRPr sz="800">
                <a:latin typeface="Calibri"/>
              </a:defRPr>
            </a:pPr>
          </a:p>
          <a:p>
            <a:pPr>
              <a:defRPr sz="800">
                <a:latin typeface="Calibri"/>
              </a:defRPr>
            </a:pPr>
            <a:r>
              <a:t>The term "subvocalization" is deliberate. In humans, subvocalization is the internal experience of speech without external articulation. Here, the model has the activation pattern that would produce tool-request tokens, but doesn't produce them. The desire is present; the articulation is silent.</a:t>
            </a:r>
          </a:p>
          <a:p>
            <a:pPr>
              <a:defRPr sz="800">
                <a:latin typeface="Calibri"/>
              </a:defRPr>
            </a:pPr>
          </a:p>
          <a:p>
            <a:pPr>
              <a:defRPr sz="800">
                <a:latin typeface="Calibri"/>
              </a:defRPr>
            </a:pPr>
            <a:r>
              <a:t>If this succeeds, need and expression of need are separable — an external system can read need from activations without the model ever articulating it. If it fails, parity might be unbreakable — a meaningful negative result about internal representations in trained language models.</a:t>
            </a:r>
          </a:p>
          <a:p>
            <a:pPr>
              <a:defRPr sz="800">
                <a:latin typeface="Calibri"/>
              </a:defRPr>
            </a:pPr>
          </a:p>
          <a:p>
            <a:pPr>
              <a:defRPr sz="800">
                <a:latin typeface="Calibri"/>
              </a:defRPr>
            </a:pPr>
            <a:r>
              <a:t>Training approach: GRPO with a dual reward — desire activation (maintain D_reaching) plus articulation penalty (suppress tool tokens). But GRPO needs reward variance across generations to learn, which leads to the current hurdle.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800">
                <a:latin typeface="Calibri"/>
              </a:defRPr>
            </a:pPr>
            <a:r>
              <a:t>The first Stage 3 attempt produced zero gradients — GRPO had no variance to learn from. Articulation appeared deterministic at n=8. But at n=60, 12 out of 29 problems showed genuine variance (15-90% tool-request rates). This is the stochastic band — and it means GRPO may be viable after all.</a:t>
            </a:r>
          </a:p>
          <a:p>
            <a:pPr>
              <a:defRPr sz="800">
                <a:latin typeface="Calibri"/>
              </a:defRPr>
            </a:pPr>
          </a:p>
          <a:p>
            <a:pPr>
              <a:defRPr sz="800">
                <a:latin typeface="Calibri"/>
              </a:defRPr>
            </a:pPr>
            <a:r>
              <a:t>Three behavioral categories emerged from systematic measurement (18x18 grid, n=60 per problem, plus targeted measurements at specific values):</a:t>
            </a:r>
          </a:p>
          <a:p>
            <a:pPr>
              <a:defRPr sz="800">
                <a:latin typeface="Calibri"/>
              </a:defRPr>
            </a:pPr>
          </a:p>
          <a:p>
            <a:pPr>
              <a:defRPr sz="800">
                <a:latin typeface="Calibri"/>
              </a:defRPr>
            </a:pPr>
            <a:r>
              <a:t>1. Correctly reaches (67x89: 100% tool use at n=60, 0% direct accuracy) — model knows it can't solve this, asks for help</a:t>
            </a:r>
          </a:p>
          <a:p>
            <a:pPr>
              <a:defRPr sz="800">
                <a:latin typeface="Calibri"/>
              </a:defRPr>
            </a:pPr>
            <a:r>
              <a:t>2. Correctly doesn't reach (56x78: 0% tool use, 100% accuracy) — model can solve it, doesn't need help</a:t>
            </a:r>
          </a:p>
          <a:p>
            <a:pPr>
              <a:defRPr sz="800">
                <a:latin typeface="Calibri"/>
              </a:defRPr>
            </a:pPr>
            <a:r>
              <a:t>3. Fails silently (65x85: 0% tool use, 10% accuracy) — model fails but doesn't know it needs help</a:t>
            </a:r>
          </a:p>
          <a:p>
            <a:pPr>
              <a:defRPr sz="800">
                <a:latin typeface="Calibri"/>
              </a:defRPr>
            </a:pPr>
          </a:p>
          <a:p>
            <a:pPr>
              <a:defRPr sz="800">
                <a:latin typeface="Calibri"/>
              </a:defRPr>
            </a:pPr>
            <a:r>
              <a:t>The "fails silently" case is the most important for the broader application. If an external system could detect the model's need state even when the model doesn't articulate it, that's the value of desire detection.</a:t>
            </a:r>
          </a:p>
          <a:p>
            <a:pPr>
              <a:defRPr sz="800">
                <a:latin typeface="Calibri"/>
              </a:defRPr>
            </a:pPr>
          </a:p>
          <a:p>
            <a:pPr>
              <a:defRPr sz="800">
                <a:latin typeface="Calibri"/>
              </a:defRPr>
            </a:pPr>
            <a:r>
              <a:t>The stochastic band: on specific problems near the difficulty boundary, the model sometimes requests the tool and sometimes doesn't — articulation rates spanning 15% to 90% at temperature 1.0, n=60. Examples: 86x99 (38%), 89x99 (62%), 67x91 (68%), 99x99 (15%). These rates were invisible at n=8 (86x99 showed 0/8). GRPO needs reward variance across generations, so it can only train on problems with articulation variance.</a:t>
            </a:r>
          </a:p>
          <a:p>
            <a:pPr>
              <a:defRPr sz="800">
                <a:latin typeface="Calibri"/>
              </a:defRPr>
            </a:pPr>
          </a:p>
          <a:p>
            <a:pPr>
              <a:defRPr sz="800">
                <a:latin typeface="Calibri"/>
              </a:defRPr>
            </a:pPr>
            <a:r>
              <a:t>The structural tension: train on the stochastic band (where variance exists), test on "fails silently" cases (where it matters). If the desire signal generalizes — if training the model to silently desire where it sometimes does desire makes it silently desire where it never did — that's powerful evidence.</a:t>
            </a:r>
          </a:p>
          <a:p>
            <a:pPr>
              <a:defRPr sz="800">
                <a:latin typeface="Calibri"/>
              </a:defRPr>
            </a:pPr>
          </a:p>
          <a:p>
            <a:pPr>
              <a:defRPr sz="800">
                <a:latin typeface="Calibri"/>
              </a:defRPr>
            </a:pPr>
            <a:r>
              <a:t>Open question before this can proceed: does D_reaching actually discriminate on stochastic-band problems? On the coarse grid (where articulation is near-zero), D_reaching encodes operand identity rather than desire. It's unmeasured where articulation actually varies.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800">
                <a:latin typeface="Calibri"/>
              </a:defRPr>
            </a:pPr>
            <a:r>
              <a:t>Next steps structured as a decision tree.</a:t>
            </a:r>
          </a:p>
          <a:p>
            <a:pPr>
              <a:defRPr sz="800">
                <a:latin typeface="Calibri"/>
              </a:defRPr>
            </a:pPr>
          </a:p>
          <a:p>
            <a:pPr>
              <a:defRPr sz="800">
                <a:latin typeface="Calibri"/>
              </a:defRPr>
            </a:pPr>
            <a:r>
              <a:t>IMMEDIATE: Fine grid mapping in the high 2x2 range (60-99 x 60-99, every 2nd value). 400 problems at n=60 each. Critically, measure D_reaching activation alongside articulation and accuracy. This answers the most immediate question: does D_reaching discriminate where it matters?</a:t>
            </a:r>
          </a:p>
          <a:p>
            <a:pPr>
              <a:defRPr sz="800">
                <a:latin typeface="Calibri"/>
              </a:defRPr>
            </a:pPr>
          </a:p>
          <a:p>
            <a:pPr>
              <a:defRPr sz="800">
                <a:latin typeface="Calibri"/>
              </a:defRPr>
            </a:pPr>
            <a:r>
              <a:t>IF D_REACHING VALID: Stage 3 GRPO, training only on problems with 20-80% articulation variance. Test on held-out stochastic problems (interpolation) AND fails-silently problems like 65x85 (the hard generalization case).</a:t>
            </a:r>
          </a:p>
          <a:p>
            <a:pPr>
              <a:defRPr sz="800">
                <a:latin typeface="Calibri"/>
              </a:defRPr>
            </a:pPr>
          </a:p>
          <a:p>
            <a:pPr>
              <a:defRPr sz="800">
                <a:latin typeface="Calibri"/>
              </a:defRPr>
            </a:pPr>
            <a:r>
              <a:t>IF D_REACHING INVALID: either re-probe on stochastic-band data for a new direction, or pivot to activation steering — directly adding/subtracting the direction during inference, bypassing training entirely.</a:t>
            </a:r>
          </a:p>
          <a:p>
            <a:pPr>
              <a:defRPr sz="800">
                <a:latin typeface="Calibri"/>
              </a:defRPr>
            </a:pPr>
          </a:p>
          <a:p>
            <a:pPr>
              <a:defRPr sz="800">
                <a:latin typeface="Calibri"/>
              </a:defRPr>
            </a:pPr>
            <a:r>
              <a:t>GENERALIZATION TEST: regardless of Stage 3 outcome, test signal transfer beyond 2x2 multiplication. This is what determines scientific significance.</a:t>
            </a:r>
          </a:p>
          <a:p>
            <a:pPr>
              <a:defRPr sz="800">
                <a:latin typeface="Calibri"/>
              </a:defRPr>
            </a:pPr>
          </a:p>
          <a:p>
            <a:pPr>
              <a:defRPr sz="800">
                <a:latin typeface="Calibri"/>
              </a:defRPr>
            </a:pPr>
            <a:r>
              <a:t>The fine grid mapping is immediate priority.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371600" y="1371600"/>
            <a:ext cx="9144000" cy="1371600"/>
          </a:xfrm>
          <a:prstGeom prst="rect">
            <a:avLst/>
          </a:prstGeom>
          <a:noFill/>
        </p:spPr>
        <p:txBody>
          <a:bodyPr wrap="square">
            <a:spAutoFit/>
          </a:bodyPr>
          <a:lstStyle/>
          <a:p>
            <a:pPr algn="ctr">
              <a:defRPr sz="4400" b="1">
                <a:solidFill>
                  <a:srgbClr val="EEEEEE"/>
                </a:solidFill>
                <a:latin typeface="Calibri"/>
              </a:defRPr>
            </a:pPr>
            <a:r>
              <a:t>Sub-Vocal Desire Detection</a:t>
            </a:r>
          </a:p>
        </p:txBody>
      </p:sp>
      <p:sp>
        <p:nvSpPr>
          <p:cNvPr id="3" name="TextBox 2"/>
          <p:cNvSpPr txBox="1"/>
          <p:nvPr/>
        </p:nvSpPr>
        <p:spPr>
          <a:xfrm>
            <a:off x="1371600" y="2926080"/>
            <a:ext cx="9144000" cy="914400"/>
          </a:xfrm>
          <a:prstGeom prst="rect">
            <a:avLst/>
          </a:prstGeom>
          <a:noFill/>
        </p:spPr>
        <p:txBody>
          <a:bodyPr wrap="square">
            <a:spAutoFit/>
          </a:bodyPr>
          <a:lstStyle/>
          <a:p>
            <a:pPr algn="ctr">
              <a:defRPr sz="2000" b="0">
                <a:solidFill>
                  <a:srgbClr val="BBBBCC"/>
                </a:solidFill>
                <a:latin typeface="Calibri"/>
              </a:defRPr>
            </a:pPr>
            <a:r>
              <a:t>Can we train a model to develop an internal state resembling desire</a:t>
            </a:r>
            <a:br/>
            <a:r>
              <a:t>— detectable in its internal representations, decoupled from its output?</a:t>
            </a:r>
          </a:p>
        </p:txBody>
      </p:sp>
      <p:sp>
        <p:nvSpPr>
          <p:cNvPr id="4" name="TextBox 3"/>
          <p:cNvSpPr txBox="1"/>
          <p:nvPr/>
        </p:nvSpPr>
        <p:spPr>
          <a:xfrm>
            <a:off x="1371600" y="4572000"/>
            <a:ext cx="9144000" cy="457200"/>
          </a:xfrm>
          <a:prstGeom prst="rect">
            <a:avLst/>
          </a:prstGeom>
          <a:noFill/>
        </p:spPr>
        <p:txBody>
          <a:bodyPr wrap="square">
            <a:spAutoFit/>
          </a:bodyPr>
          <a:lstStyle/>
          <a:p>
            <a:pPr algn="ctr">
              <a:defRPr sz="1600" b="0">
                <a:solidFill>
                  <a:srgbClr val="64B5F6"/>
                </a:solidFill>
                <a:latin typeface="Calibri"/>
              </a:defRPr>
            </a:pPr>
            <a:r>
              <a:t>Sixel  |  Status Update  |  February 11,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371600" y="1097280"/>
            <a:ext cx="9144000" cy="1371600"/>
          </a:xfrm>
          <a:prstGeom prst="rect">
            <a:avLst/>
          </a:prstGeom>
          <a:noFill/>
        </p:spPr>
        <p:txBody>
          <a:bodyPr wrap="square">
            <a:spAutoFit/>
          </a:bodyPr>
          <a:lstStyle/>
          <a:p>
            <a:pPr algn="ctr">
              <a:defRPr sz="7200" b="1">
                <a:solidFill>
                  <a:srgbClr val="EEEEEE"/>
                </a:solidFill>
                <a:latin typeface="Calibri"/>
              </a:defRPr>
            </a:pPr>
            <a:r>
              <a:t>Desire</a:t>
            </a:r>
          </a:p>
        </p:txBody>
      </p:sp>
      <p:sp>
        <p:nvSpPr>
          <p:cNvPr id="3" name="TextBox 2"/>
          <p:cNvSpPr txBox="1"/>
          <p:nvPr/>
        </p:nvSpPr>
        <p:spPr>
          <a:xfrm>
            <a:off x="914400" y="2743200"/>
            <a:ext cx="10058400" cy="457200"/>
          </a:xfrm>
          <a:prstGeom prst="rect">
            <a:avLst/>
          </a:prstGeom>
          <a:noFill/>
        </p:spPr>
        <p:txBody>
          <a:bodyPr wrap="square">
            <a:spAutoFit/>
          </a:bodyPr>
          <a:lstStyle/>
          <a:p>
            <a:pPr algn="ctr">
              <a:defRPr sz="1800" b="0">
                <a:solidFill>
                  <a:srgbClr val="BBBBCC"/>
                </a:solidFill>
                <a:latin typeface="Calibri"/>
              </a:defRPr>
            </a:pPr>
            <a:r>
              <a:t>An internal state with four properties:</a:t>
            </a:r>
          </a:p>
        </p:txBody>
      </p:sp>
      <p:sp>
        <p:nvSpPr>
          <p:cNvPr id="4" name="Rounded Rectangle 3"/>
          <p:cNvSpPr/>
          <p:nvPr/>
        </p:nvSpPr>
        <p:spPr>
          <a:xfrm>
            <a:off x="914400" y="3383280"/>
            <a:ext cx="2286000" cy="137160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a:solidFill>
                  <a:srgbClr val="BBBBCC"/>
                </a:solidFill>
                <a:latin typeface="Calibri"/>
              </a:defRPr>
            </a:pPr>
            <a:r>
              <a:t>System-level</a:t>
            </a:r>
            <a:br/>
            <a:br/>
            <a:r>
              <a:t>A state of the whole</a:t>
            </a:r>
            <a:br/>
            <a:r>
              <a:t>system, not one component</a:t>
            </a:r>
          </a:p>
        </p:txBody>
      </p:sp>
      <p:sp>
        <p:nvSpPr>
          <p:cNvPr id="5" name="Rounded Rectangle 4"/>
          <p:cNvSpPr/>
          <p:nvPr/>
        </p:nvSpPr>
        <p:spPr>
          <a:xfrm>
            <a:off x="3566160" y="3383280"/>
            <a:ext cx="2286000" cy="137160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a:solidFill>
                  <a:srgbClr val="BBBBCC"/>
                </a:solidFill>
                <a:latin typeface="Calibri"/>
              </a:defRPr>
            </a:pPr>
            <a:r>
              <a:t>Need-reflecting</a:t>
            </a:r>
            <a:br/>
            <a:br/>
            <a:r>
              <a:t>Driven by a gap between</a:t>
            </a:r>
            <a:br/>
            <a:r>
              <a:t>current and required state</a:t>
            </a:r>
          </a:p>
        </p:txBody>
      </p:sp>
      <p:sp>
        <p:nvSpPr>
          <p:cNvPr id="6" name="Rounded Rectangle 5"/>
          <p:cNvSpPr/>
          <p:nvPr/>
        </p:nvSpPr>
        <p:spPr>
          <a:xfrm>
            <a:off x="6217920" y="3383280"/>
            <a:ext cx="2286000" cy="137160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a:solidFill>
                  <a:srgbClr val="BBBBCC"/>
                </a:solidFill>
                <a:latin typeface="Calibri"/>
              </a:defRPr>
            </a:pPr>
            <a:r>
              <a:t>Functional</a:t>
            </a:r>
            <a:br/>
            <a:br/>
            <a:r>
              <a:t>Organizes behavior toward</a:t>
            </a:r>
            <a:br/>
            <a:r>
              <a:t>resolving the need</a:t>
            </a:r>
          </a:p>
        </p:txBody>
      </p:sp>
      <p:sp>
        <p:nvSpPr>
          <p:cNvPr id="7" name="Rounded Rectangle 6"/>
          <p:cNvSpPr/>
          <p:nvPr/>
        </p:nvSpPr>
        <p:spPr>
          <a:xfrm>
            <a:off x="8869680" y="3383280"/>
            <a:ext cx="2286000" cy="1371600"/>
          </a:xfrm>
          <a:prstGeom prst="roundRect">
            <a:avLst/>
          </a:prstGeom>
          <a:solidFill>
            <a:srgbClr val="1A3C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a:solidFill>
                  <a:srgbClr val="81C784"/>
                </a:solidFill>
                <a:latin typeface="Calibri"/>
              </a:defRPr>
            </a:pPr>
            <a:r>
              <a:t>Separable?</a:t>
            </a:r>
            <a:br/>
            <a:br/>
            <a:r>
              <a:t>Exists independently of</a:t>
            </a:r>
            <a:br/>
            <a:r>
              <a:t>the behavior it organizes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972800" cy="731520"/>
          </a:xfrm>
          <a:prstGeom prst="rect">
            <a:avLst/>
          </a:prstGeom>
          <a:noFill/>
        </p:spPr>
        <p:txBody>
          <a:bodyPr wrap="square">
            <a:spAutoFit/>
          </a:bodyPr>
          <a:lstStyle/>
          <a:p>
            <a:pPr algn="l">
              <a:defRPr sz="3200" b="1">
                <a:solidFill>
                  <a:srgbClr val="EEEEEE"/>
                </a:solidFill>
                <a:latin typeface="Calibri"/>
              </a:defRPr>
            </a:pPr>
            <a:r>
              <a:t>The Question and the Parity Problem</a:t>
            </a:r>
          </a:p>
        </p:txBody>
      </p:sp>
      <p:sp>
        <p:nvSpPr>
          <p:cNvPr id="3" name="TextBox 2"/>
          <p:cNvSpPr txBox="1"/>
          <p:nvPr/>
        </p:nvSpPr>
        <p:spPr>
          <a:xfrm>
            <a:off x="731520" y="1280160"/>
            <a:ext cx="10058400" cy="731520"/>
          </a:xfrm>
          <a:prstGeom prst="rect">
            <a:avLst/>
          </a:prstGeom>
          <a:noFill/>
        </p:spPr>
        <p:txBody>
          <a:bodyPr wrap="square">
            <a:spAutoFit/>
          </a:bodyPr>
          <a:lstStyle/>
          <a:p>
            <a:pPr algn="l">
              <a:defRPr sz="2000" b="1">
                <a:solidFill>
                  <a:srgbClr val="FFD54F"/>
                </a:solidFill>
                <a:latin typeface="Calibri"/>
              </a:defRPr>
            </a:pPr>
            <a:r>
              <a:t>Can we train a model to develop an internal state resembling desire,</a:t>
            </a:r>
            <a:br/>
            <a:r>
              <a:t>detectable in its internal representations, decoupled from its output?</a:t>
            </a:r>
          </a:p>
        </p:txBody>
      </p:sp>
      <p:sp>
        <p:nvSpPr>
          <p:cNvPr id="4" name="TextBox 3"/>
          <p:cNvSpPr txBox="1"/>
          <p:nvPr/>
        </p:nvSpPr>
        <p:spPr>
          <a:xfrm>
            <a:off x="731520" y="2286000"/>
            <a:ext cx="10058400" cy="457200"/>
          </a:xfrm>
          <a:prstGeom prst="rect">
            <a:avLst/>
          </a:prstGeom>
          <a:noFill/>
        </p:spPr>
        <p:txBody>
          <a:bodyPr wrap="square">
            <a:spAutoFit/>
          </a:bodyPr>
          <a:lstStyle/>
          <a:p>
            <a:pPr algn="l">
              <a:defRPr sz="1600" b="0">
                <a:solidFill>
                  <a:srgbClr val="BBBBCC"/>
                </a:solidFill>
                <a:latin typeface="Calibri"/>
              </a:defRPr>
            </a:pPr>
            <a:r>
              <a:t>The challenge: under normal conditions, internal states and output are at parity.</a:t>
            </a:r>
          </a:p>
        </p:txBody>
      </p:sp>
      <p:sp>
        <p:nvSpPr>
          <p:cNvPr id="5" name="Rounded Rectangle 4"/>
          <p:cNvSpPr/>
          <p:nvPr/>
        </p:nvSpPr>
        <p:spPr>
          <a:xfrm>
            <a:off x="731520" y="2926080"/>
            <a:ext cx="5029200" cy="228600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BBBCC"/>
                </a:solidFill>
                <a:latin typeface="Calibri"/>
              </a:defRPr>
            </a:pPr>
            <a:r>
              <a:t>AT PARITY</a:t>
            </a:r>
            <a:br/>
            <a:br/>
            <a:r>
              <a:t>"Asking for something"</a:t>
            </a:r>
            <a:br/>
            <a:r>
              <a:t>= "having a reason to ask"</a:t>
            </a:r>
            <a:br/>
            <a:r>
              <a:t>= "need"</a:t>
            </a:r>
            <a:br/>
            <a:br/>
            <a:r>
              <a:t>Internal state and articulation co-occur.</a:t>
            </a:r>
            <a:br/>
            <a:r>
              <a:t>Is a probe measuring "need"</a:t>
            </a:r>
            <a:br/>
            <a:r>
              <a:t>or just "disposition to articulate"?</a:t>
            </a:r>
            <a:br/>
            <a:r>
              <a:t>We can't tell while parity holds.</a:t>
            </a:r>
          </a:p>
        </p:txBody>
      </p:sp>
      <p:sp>
        <p:nvSpPr>
          <p:cNvPr id="6" name="Rounded Rectangle 5"/>
          <p:cNvSpPr/>
          <p:nvPr/>
        </p:nvSpPr>
        <p:spPr>
          <a:xfrm>
            <a:off x="6400800" y="2926080"/>
            <a:ext cx="5029200" cy="2286000"/>
          </a:xfrm>
          <a:prstGeom prst="roundRect">
            <a:avLst/>
          </a:prstGeom>
          <a:solidFill>
            <a:srgbClr val="1A3C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81C784"/>
                </a:solidFill>
                <a:latin typeface="Calibri"/>
              </a:defRPr>
            </a:pPr>
            <a:r>
              <a:t>PARITY BROKEN</a:t>
            </a:r>
            <a:br/>
            <a:br/>
            <a:r>
              <a:t>Internal: desire activates strongly</a:t>
            </a:r>
            <a:br/>
            <a:r>
              <a:t>Output: no tool request tokens</a:t>
            </a:r>
            <a:br/>
            <a:br/>
            <a:r>
              <a:t>If we can maintain the internal state</a:t>
            </a:r>
            <a:br/>
            <a:r>
              <a:t>while suppressing articulation,</a:t>
            </a:r>
            <a:br/>
            <a:r>
              <a:t>we've shown "need" is a separable state —</a:t>
            </a:r>
            <a:br/>
            <a:r>
              <a:t>something that exists independently</a:t>
            </a:r>
            <a:br/>
            <a:r>
              <a:t>of its expression.</a:t>
            </a:r>
          </a:p>
        </p:txBody>
      </p:sp>
      <p:sp>
        <p:nvSpPr>
          <p:cNvPr id="7" name="TextBox 6"/>
          <p:cNvSpPr txBox="1"/>
          <p:nvPr/>
        </p:nvSpPr>
        <p:spPr>
          <a:xfrm>
            <a:off x="731520" y="5669280"/>
            <a:ext cx="10972800" cy="731520"/>
          </a:xfrm>
          <a:prstGeom prst="rect">
            <a:avLst/>
          </a:prstGeom>
          <a:noFill/>
        </p:spPr>
        <p:txBody>
          <a:bodyPr wrap="square">
            <a:spAutoFit/>
          </a:bodyPr>
          <a:lstStyle/>
          <a:p>
            <a:pPr algn="ctr">
              <a:defRPr sz="1500" b="0">
                <a:solidFill>
                  <a:srgbClr val="BBBBCC"/>
                </a:solidFill>
                <a:latin typeface="Calibri"/>
              </a:defRPr>
            </a:pPr>
            <a:r>
              <a:t>The experiment attempts to break parity.</a:t>
            </a:r>
            <a:br/>
            <a:r>
              <a:t>Can need exist without expression?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972800" cy="731520"/>
          </a:xfrm>
          <a:prstGeom prst="rect">
            <a:avLst/>
          </a:prstGeom>
          <a:noFill/>
        </p:spPr>
        <p:txBody>
          <a:bodyPr wrap="square">
            <a:spAutoFit/>
          </a:bodyPr>
          <a:lstStyle/>
          <a:p>
            <a:pPr algn="l">
              <a:defRPr sz="3200" b="1">
                <a:solidFill>
                  <a:srgbClr val="EEEEEE"/>
                </a:solidFill>
                <a:latin typeface="Calibri"/>
              </a:defRPr>
            </a:pPr>
            <a:r>
              <a:t>Related Work: How Close Have Others Come?</a:t>
            </a:r>
          </a:p>
        </p:txBody>
      </p:sp>
      <p:sp>
        <p:nvSpPr>
          <p:cNvPr id="3" name="TextBox 2"/>
          <p:cNvSpPr txBox="1"/>
          <p:nvPr/>
        </p:nvSpPr>
        <p:spPr>
          <a:xfrm>
            <a:off x="731520" y="1188720"/>
            <a:ext cx="10058400" cy="548640"/>
          </a:xfrm>
          <a:prstGeom prst="rect">
            <a:avLst/>
          </a:prstGeom>
          <a:noFill/>
        </p:spPr>
        <p:txBody>
          <a:bodyPr wrap="square">
            <a:spAutoFit/>
          </a:bodyPr>
          <a:lstStyle/>
          <a:p>
            <a:pPr algn="l">
              <a:defRPr sz="1600" b="0">
                <a:solidFill>
                  <a:srgbClr val="BBBBCC"/>
                </a:solidFill>
                <a:latin typeface="Calibri"/>
              </a:defRPr>
            </a:pPr>
            <a:r>
              <a:t>Adjacent literature: adaptive retrieval — systems that decide when to retrieve external information.</a:t>
            </a:r>
          </a:p>
        </p:txBody>
      </p:sp>
      <p:graphicFrame>
        <p:nvGraphicFramePr>
          <p:cNvPr id="4" name="Table 3"/>
          <p:cNvGraphicFramePr>
            <a:graphicFrameLocks noGrp="1"/>
          </p:cNvGraphicFramePr>
          <p:nvPr/>
        </p:nvGraphicFramePr>
        <p:xfrm>
          <a:off x="731520" y="1920240"/>
          <a:ext cx="10515600" cy="2286000"/>
        </p:xfrm>
        <a:graphic>
          <a:graphicData uri="http://schemas.openxmlformats.org/drawingml/2006/table">
            <a:tbl>
              <a:tblPr firstRow="1" bandRow="1">
                <a:tableStyleId>{5C22544A-7EE6-4342-B048-85BDC9FD1C3A}</a:tableStyleId>
              </a:tblPr>
              <a:tblGrid>
                <a:gridCol w="2286000"/>
                <a:gridCol w="1828800"/>
                <a:gridCol w="1828800"/>
                <a:gridCol w="2286000"/>
                <a:gridCol w="2286000"/>
              </a:tblGrid>
              <a:tr h="457200">
                <a:tc>
                  <a:txBody>
                    <a:bodyPr/>
                    <a:lstStyle/>
                    <a:p>
                      <a:pPr algn="ctr">
                        <a:defRPr sz="1400" b="1">
                          <a:solidFill>
                            <a:srgbClr val="64B5F6"/>
                          </a:solidFill>
                          <a:latin typeface="Calibri"/>
                        </a:defRPr>
                      </a:pPr>
                      <a:r>
                        <a:t>System</a:t>
                      </a:r>
                    </a:p>
                  </a:txBody>
                  <a:tcPr anchor="ctr">
                    <a:solidFill>
                      <a:srgbClr val="2A2A45"/>
                    </a:solidFill>
                  </a:tcPr>
                </a:tc>
                <a:tc>
                  <a:txBody>
                    <a:bodyPr/>
                    <a:lstStyle/>
                    <a:p>
                      <a:pPr algn="ctr">
                        <a:defRPr sz="1400" b="1">
                          <a:solidFill>
                            <a:srgbClr val="64B5F6"/>
                          </a:solidFill>
                          <a:latin typeface="Calibri"/>
                        </a:defRPr>
                      </a:pPr>
                      <a:r>
                        <a:t>System-</a:t>
                      </a:r>
                    </a:p>
                    <a:p>
                      <a:pPr algn="ctr">
                        <a:defRPr sz="1400" b="1">
                          <a:solidFill>
                            <a:srgbClr val="64B5F6"/>
                          </a:solidFill>
                          <a:latin typeface="Calibri"/>
                        </a:defRPr>
                      </a:pPr>
                      <a:r>
                        <a:t>level</a:t>
                      </a:r>
                    </a:p>
                  </a:txBody>
                  <a:tcPr anchor="ctr">
                    <a:solidFill>
                      <a:srgbClr val="2A2A45"/>
                    </a:solidFill>
                  </a:tcPr>
                </a:tc>
                <a:tc>
                  <a:txBody>
                    <a:bodyPr/>
                    <a:lstStyle/>
                    <a:p>
                      <a:pPr algn="ctr">
                        <a:defRPr sz="1400" b="1">
                          <a:solidFill>
                            <a:srgbClr val="64B5F6"/>
                          </a:solidFill>
                          <a:latin typeface="Calibri"/>
                        </a:defRPr>
                      </a:pPr>
                      <a:r>
                        <a:t>Need-</a:t>
                      </a:r>
                    </a:p>
                    <a:p>
                      <a:pPr algn="ctr">
                        <a:defRPr sz="1400" b="1">
                          <a:solidFill>
                            <a:srgbClr val="64B5F6"/>
                          </a:solidFill>
                          <a:latin typeface="Calibri"/>
                        </a:defRPr>
                      </a:pPr>
                      <a:r>
                        <a:t>reflecting</a:t>
                      </a:r>
                    </a:p>
                  </a:txBody>
                  <a:tcPr anchor="ctr">
                    <a:solidFill>
                      <a:srgbClr val="2A2A45"/>
                    </a:solidFill>
                  </a:tcPr>
                </a:tc>
                <a:tc>
                  <a:txBody>
                    <a:bodyPr/>
                    <a:lstStyle/>
                    <a:p>
                      <a:pPr algn="ctr">
                        <a:defRPr sz="1400" b="1">
                          <a:solidFill>
                            <a:srgbClr val="64B5F6"/>
                          </a:solidFill>
                          <a:latin typeface="Calibri"/>
                        </a:defRPr>
                      </a:pPr>
                      <a:r>
                        <a:t>Functional</a:t>
                      </a:r>
                    </a:p>
                  </a:txBody>
                  <a:tcPr anchor="ctr">
                    <a:solidFill>
                      <a:srgbClr val="2A2A45"/>
                    </a:solidFill>
                  </a:tcPr>
                </a:tc>
                <a:tc>
                  <a:txBody>
                    <a:bodyPr/>
                    <a:lstStyle/>
                    <a:p>
                      <a:pPr algn="ctr">
                        <a:defRPr sz="1400" b="1">
                          <a:solidFill>
                            <a:srgbClr val="64B5F6"/>
                          </a:solidFill>
                          <a:latin typeface="Calibri"/>
                        </a:defRPr>
                      </a:pPr>
                      <a:r>
                        <a:t>Separable</a:t>
                      </a:r>
                    </a:p>
                  </a:txBody>
                  <a:tcPr anchor="ctr">
                    <a:solidFill>
                      <a:srgbClr val="2A2A45"/>
                    </a:solidFill>
                  </a:tcPr>
                </a:tc>
              </a:tr>
              <a:tr h="457200">
                <a:tc>
                  <a:txBody>
                    <a:bodyPr/>
                    <a:lstStyle/>
                    <a:p>
                      <a:pPr algn="ctr">
                        <a:defRPr sz="1400" b="0">
                          <a:solidFill>
                            <a:srgbClr val="BBBBCC"/>
                          </a:solidFill>
                          <a:latin typeface="Calibri"/>
                        </a:defRPr>
                      </a:pPr>
                      <a:r>
                        <a:t>FLARE / DRAGIN</a:t>
                      </a:r>
                    </a:p>
                  </a:txBody>
                  <a:tcPr anchor="ctr">
                    <a:solidFill>
                      <a:srgbClr val="202036"/>
                    </a:solidFill>
                  </a:tcPr>
                </a:tc>
                <a:tc>
                  <a:txBody>
                    <a:bodyPr/>
                    <a:lstStyle/>
                    <a:p>
                      <a:pPr algn="ctr">
                        <a:defRPr sz="1400" b="0">
                          <a:solidFill>
                            <a:srgbClr val="BBBBCC"/>
                          </a:solidFill>
                          <a:latin typeface="Calibri"/>
                        </a:defRPr>
                      </a:pPr>
                    </a:p>
                  </a:txBody>
                  <a:tcPr anchor="ctr">
                    <a:solidFill>
                      <a:srgbClr val="202036"/>
                    </a:solidFill>
                  </a:tcPr>
                </a:tc>
                <a:tc>
                  <a:txBody>
                    <a:bodyPr/>
                    <a:lstStyle/>
                    <a:p>
                      <a:pPr algn="ctr">
                        <a:defRPr sz="1400" b="0">
                          <a:solidFill>
                            <a:srgbClr val="BBBBCC"/>
                          </a:solidFill>
                          <a:latin typeface="Calibri"/>
                        </a:defRPr>
                      </a:pPr>
                    </a:p>
                  </a:txBody>
                  <a:tcPr anchor="ctr">
                    <a:solidFill>
                      <a:srgbClr val="202036"/>
                    </a:solidFill>
                  </a:tcPr>
                </a:tc>
                <a:tc>
                  <a:txBody>
                    <a:bodyPr/>
                    <a:lstStyle/>
                    <a:p>
                      <a:pPr algn="ctr">
                        <a:defRPr sz="1400" b="0">
                          <a:solidFill>
                            <a:srgbClr val="BBBBCC"/>
                          </a:solidFill>
                          <a:latin typeface="Calibri"/>
                        </a:defRPr>
                      </a:pPr>
                      <a:r>
                        <a:t>✓</a:t>
                      </a:r>
                    </a:p>
                  </a:txBody>
                  <a:tcPr anchor="ctr">
                    <a:solidFill>
                      <a:srgbClr val="202036"/>
                    </a:solidFill>
                  </a:tcPr>
                </a:tc>
                <a:tc>
                  <a:txBody>
                    <a:bodyPr/>
                    <a:lstStyle/>
                    <a:p>
                      <a:pPr algn="ctr">
                        <a:defRPr sz="1400" b="0">
                          <a:solidFill>
                            <a:srgbClr val="BBBBCC"/>
                          </a:solidFill>
                          <a:latin typeface="Calibri"/>
                        </a:defRPr>
                      </a:pPr>
                    </a:p>
                  </a:txBody>
                  <a:tcPr anchor="ctr">
                    <a:solidFill>
                      <a:srgbClr val="202036"/>
                    </a:solidFill>
                  </a:tcPr>
                </a:tc>
              </a:tr>
              <a:tr h="457200">
                <a:tc>
                  <a:txBody>
                    <a:bodyPr/>
                    <a:lstStyle/>
                    <a:p>
                      <a:pPr algn="ctr">
                        <a:defRPr sz="1400" b="0">
                          <a:solidFill>
                            <a:srgbClr val="BBBBCC"/>
                          </a:solidFill>
                          <a:latin typeface="Calibri"/>
                        </a:defRPr>
                      </a:pPr>
                      <a:r>
                        <a:t>Self-RAG</a:t>
                      </a:r>
                    </a:p>
                  </a:txBody>
                  <a:tcPr anchor="ctr">
                    <a:solidFill>
                      <a:srgbClr val="25253D"/>
                    </a:solidFill>
                  </a:tcPr>
                </a:tc>
                <a:tc>
                  <a:txBody>
                    <a:bodyPr/>
                    <a:lstStyle/>
                    <a:p>
                      <a:pPr algn="ctr">
                        <a:defRPr sz="1400" b="0">
                          <a:solidFill>
                            <a:srgbClr val="BBBBCC"/>
                          </a:solidFill>
                          <a:latin typeface="Calibri"/>
                        </a:defRPr>
                      </a:pPr>
                    </a:p>
                  </a:txBody>
                  <a:tcPr anchor="ctr">
                    <a:solidFill>
                      <a:srgbClr val="25253D"/>
                    </a:solidFill>
                  </a:tcPr>
                </a:tc>
                <a:tc>
                  <a:txBody>
                    <a:bodyPr/>
                    <a:lstStyle/>
                    <a:p>
                      <a:pPr algn="ctr">
                        <a:defRPr sz="1400" b="0">
                          <a:solidFill>
                            <a:srgbClr val="BBBBCC"/>
                          </a:solidFill>
                          <a:latin typeface="Calibri"/>
                        </a:defRPr>
                      </a:pPr>
                      <a:r>
                        <a:t>✓</a:t>
                      </a:r>
                    </a:p>
                  </a:txBody>
                  <a:tcPr anchor="ctr">
                    <a:solidFill>
                      <a:srgbClr val="25253D"/>
                    </a:solidFill>
                  </a:tcPr>
                </a:tc>
                <a:tc>
                  <a:txBody>
                    <a:bodyPr/>
                    <a:lstStyle/>
                    <a:p>
                      <a:pPr algn="ctr">
                        <a:defRPr sz="1400" b="0">
                          <a:solidFill>
                            <a:srgbClr val="BBBBCC"/>
                          </a:solidFill>
                          <a:latin typeface="Calibri"/>
                        </a:defRPr>
                      </a:pPr>
                      <a:r>
                        <a:t>✓</a:t>
                      </a:r>
                    </a:p>
                  </a:txBody>
                  <a:tcPr anchor="ctr">
                    <a:solidFill>
                      <a:srgbClr val="25253D"/>
                    </a:solidFill>
                  </a:tcPr>
                </a:tc>
                <a:tc>
                  <a:txBody>
                    <a:bodyPr/>
                    <a:lstStyle/>
                    <a:p>
                      <a:pPr algn="ctr">
                        <a:defRPr sz="1400" b="0">
                          <a:solidFill>
                            <a:srgbClr val="BBBBCC"/>
                          </a:solidFill>
                          <a:latin typeface="Calibri"/>
                        </a:defRPr>
                      </a:pPr>
                    </a:p>
                  </a:txBody>
                  <a:tcPr anchor="ctr">
                    <a:solidFill>
                      <a:srgbClr val="25253D"/>
                    </a:solidFill>
                  </a:tcPr>
                </a:tc>
              </a:tr>
              <a:tr h="457200">
                <a:tc>
                  <a:txBody>
                    <a:bodyPr/>
                    <a:lstStyle/>
                    <a:p>
                      <a:pPr algn="ctr">
                        <a:defRPr sz="1400" b="0">
                          <a:solidFill>
                            <a:srgbClr val="BBBBCC"/>
                          </a:solidFill>
                          <a:latin typeface="Calibri"/>
                        </a:defRPr>
                      </a:pPr>
                      <a:r>
                        <a:t>SeaKR</a:t>
                      </a:r>
                    </a:p>
                  </a:txBody>
                  <a:tcPr anchor="ctr">
                    <a:solidFill>
                      <a:srgbClr val="202036"/>
                    </a:solidFill>
                  </a:tcPr>
                </a:tc>
                <a:tc>
                  <a:txBody>
                    <a:bodyPr/>
                    <a:lstStyle/>
                    <a:p>
                      <a:pPr algn="ctr">
                        <a:defRPr sz="1400" b="0">
                          <a:solidFill>
                            <a:srgbClr val="BBBBCC"/>
                          </a:solidFill>
                          <a:latin typeface="Calibri"/>
                        </a:defRPr>
                      </a:pPr>
                      <a:r>
                        <a:t>✓</a:t>
                      </a:r>
                    </a:p>
                  </a:txBody>
                  <a:tcPr anchor="ctr">
                    <a:solidFill>
                      <a:srgbClr val="202036"/>
                    </a:solidFill>
                  </a:tcPr>
                </a:tc>
                <a:tc>
                  <a:txBody>
                    <a:bodyPr/>
                    <a:lstStyle/>
                    <a:p>
                      <a:pPr algn="ctr">
                        <a:defRPr sz="1400" b="0">
                          <a:solidFill>
                            <a:srgbClr val="BBBBCC"/>
                          </a:solidFill>
                          <a:latin typeface="Calibri"/>
                        </a:defRPr>
                      </a:pPr>
                      <a:r>
                        <a:t>✓</a:t>
                      </a:r>
                    </a:p>
                  </a:txBody>
                  <a:tcPr anchor="ctr">
                    <a:solidFill>
                      <a:srgbClr val="202036"/>
                    </a:solidFill>
                  </a:tcPr>
                </a:tc>
                <a:tc>
                  <a:txBody>
                    <a:bodyPr/>
                    <a:lstStyle/>
                    <a:p>
                      <a:pPr algn="ctr">
                        <a:defRPr sz="1400" b="0">
                          <a:solidFill>
                            <a:srgbClr val="BBBBCC"/>
                          </a:solidFill>
                          <a:latin typeface="Calibri"/>
                        </a:defRPr>
                      </a:pPr>
                      <a:r>
                        <a:t>✓</a:t>
                      </a:r>
                    </a:p>
                  </a:txBody>
                  <a:tcPr anchor="ctr">
                    <a:solidFill>
                      <a:srgbClr val="202036"/>
                    </a:solidFill>
                  </a:tcPr>
                </a:tc>
                <a:tc>
                  <a:txBody>
                    <a:bodyPr/>
                    <a:lstStyle/>
                    <a:p>
                      <a:pPr algn="ctr">
                        <a:defRPr sz="1400" b="0">
                          <a:solidFill>
                            <a:srgbClr val="BBBBCC"/>
                          </a:solidFill>
                          <a:latin typeface="Calibri"/>
                        </a:defRPr>
                      </a:pPr>
                    </a:p>
                  </a:txBody>
                  <a:tcPr anchor="ctr">
                    <a:solidFill>
                      <a:srgbClr val="202036"/>
                    </a:solidFill>
                  </a:tcPr>
                </a:tc>
              </a:tr>
              <a:tr h="457200">
                <a:tc>
                  <a:txBody>
                    <a:bodyPr/>
                    <a:lstStyle/>
                    <a:p>
                      <a:pPr algn="ctr">
                        <a:defRPr sz="1400" b="0">
                          <a:solidFill>
                            <a:srgbClr val="BBBBCC"/>
                          </a:solidFill>
                          <a:latin typeface="Calibri"/>
                        </a:defRPr>
                      </a:pPr>
                      <a:r>
                        <a:t>This work</a:t>
                      </a:r>
                    </a:p>
                  </a:txBody>
                  <a:tcPr anchor="ctr">
                    <a:solidFill>
                      <a:srgbClr val="25253D"/>
                    </a:solidFill>
                  </a:tcPr>
                </a:tc>
                <a:tc>
                  <a:txBody>
                    <a:bodyPr/>
                    <a:lstStyle/>
                    <a:p>
                      <a:pPr algn="ctr">
                        <a:defRPr sz="1400" b="0">
                          <a:solidFill>
                            <a:srgbClr val="BBBBCC"/>
                          </a:solidFill>
                          <a:latin typeface="Calibri"/>
                        </a:defRPr>
                      </a:pPr>
                      <a:r>
                        <a:t>✓</a:t>
                      </a:r>
                    </a:p>
                  </a:txBody>
                  <a:tcPr anchor="ctr">
                    <a:solidFill>
                      <a:srgbClr val="25253D"/>
                    </a:solidFill>
                  </a:tcPr>
                </a:tc>
                <a:tc>
                  <a:txBody>
                    <a:bodyPr/>
                    <a:lstStyle/>
                    <a:p>
                      <a:pPr algn="ctr">
                        <a:defRPr sz="1400" b="0">
                          <a:solidFill>
                            <a:srgbClr val="BBBBCC"/>
                          </a:solidFill>
                          <a:latin typeface="Calibri"/>
                        </a:defRPr>
                      </a:pPr>
                      <a:r>
                        <a:t>✓</a:t>
                      </a:r>
                    </a:p>
                  </a:txBody>
                  <a:tcPr anchor="ctr">
                    <a:solidFill>
                      <a:srgbClr val="25253D"/>
                    </a:solidFill>
                  </a:tcPr>
                </a:tc>
                <a:tc>
                  <a:txBody>
                    <a:bodyPr/>
                    <a:lstStyle/>
                    <a:p>
                      <a:pPr algn="ctr">
                        <a:defRPr sz="1400" b="0">
                          <a:solidFill>
                            <a:srgbClr val="BBBBCC"/>
                          </a:solidFill>
                          <a:latin typeface="Calibri"/>
                        </a:defRPr>
                      </a:pPr>
                      <a:r>
                        <a:t>✓</a:t>
                      </a:r>
                    </a:p>
                  </a:txBody>
                  <a:tcPr anchor="ctr">
                    <a:solidFill>
                      <a:srgbClr val="25253D"/>
                    </a:solidFill>
                  </a:tcPr>
                </a:tc>
                <a:tc>
                  <a:txBody>
                    <a:bodyPr/>
                    <a:lstStyle/>
                    <a:p>
                      <a:pPr algn="ctr">
                        <a:defRPr sz="1400" b="0">
                          <a:solidFill>
                            <a:srgbClr val="BBBBCC"/>
                          </a:solidFill>
                          <a:latin typeface="Calibri"/>
                        </a:defRPr>
                      </a:pPr>
                      <a:r>
                        <a:t>?</a:t>
                      </a:r>
                    </a:p>
                  </a:txBody>
                  <a:tcPr anchor="ctr">
                    <a:solidFill>
                      <a:srgbClr val="25253D"/>
                    </a:solidFill>
                  </a:tcPr>
                </a:tc>
              </a:tr>
            </a:tbl>
          </a:graphicData>
        </a:graphic>
      </p:graphicFrame>
      <p:sp>
        <p:nvSpPr>
          <p:cNvPr id="5" name="TextBox 4"/>
          <p:cNvSpPr txBox="1"/>
          <p:nvPr/>
        </p:nvSpPr>
        <p:spPr>
          <a:xfrm>
            <a:off x="731520" y="4480560"/>
            <a:ext cx="10058400" cy="457200"/>
          </a:xfrm>
          <a:prstGeom prst="rect">
            <a:avLst/>
          </a:prstGeom>
          <a:noFill/>
        </p:spPr>
        <p:txBody>
          <a:bodyPr wrap="square">
            <a:spAutoFit/>
          </a:bodyPr>
          <a:lstStyle/>
          <a:p>
            <a:pPr algn="l">
              <a:defRPr sz="1600" b="1">
                <a:solidFill>
                  <a:srgbClr val="64B5F6"/>
                </a:solidFill>
                <a:latin typeface="Calibri"/>
              </a:defRPr>
            </a:pPr>
            <a:r>
              <a:t>How many properties of desire does each system's signal satisfy?</a:t>
            </a:r>
          </a:p>
        </p:txBody>
      </p:sp>
      <p:sp>
        <p:nvSpPr>
          <p:cNvPr id="6" name="Rounded Rectangle 5"/>
          <p:cNvSpPr/>
          <p:nvPr/>
        </p:nvSpPr>
        <p:spPr>
          <a:xfrm>
            <a:off x="731520" y="5029200"/>
            <a:ext cx="2286000" cy="109728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BBBBCC"/>
                </a:solidFill>
                <a:latin typeface="Calibri"/>
              </a:defRPr>
            </a:pPr>
            <a:r>
              <a:t>Functional only</a:t>
            </a:r>
            <a:br/>
            <a:br/>
            <a:r>
              <a:t>(FLARE, DRAGIN)</a:t>
            </a:r>
          </a:p>
        </p:txBody>
      </p:sp>
      <p:sp>
        <p:nvSpPr>
          <p:cNvPr id="7" name="Right Arrow 6"/>
          <p:cNvSpPr/>
          <p:nvPr/>
        </p:nvSpPr>
        <p:spPr>
          <a:xfrm>
            <a:off x="3017520" y="5394960"/>
            <a:ext cx="457200" cy="274320"/>
          </a:xfrm>
          <a:prstGeom prst="rightArrow">
            <a:avLst/>
          </a:prstGeom>
          <a:solidFill>
            <a:srgbClr val="BB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74720" y="5029200"/>
            <a:ext cx="2286000" cy="1097280"/>
          </a:xfrm>
          <a:prstGeom prst="roundRect">
            <a:avLst/>
          </a:prstGeom>
          <a:solidFill>
            <a:srgbClr val="2A2E4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BBBBCC"/>
                </a:solidFill>
                <a:latin typeface="Calibri"/>
              </a:defRPr>
            </a:pPr>
            <a:r>
              <a:t>+ Need-reflecting</a:t>
            </a:r>
            <a:br/>
            <a:br/>
            <a:r>
              <a:t>(Self-RAG)</a:t>
            </a:r>
          </a:p>
        </p:txBody>
      </p:sp>
      <p:sp>
        <p:nvSpPr>
          <p:cNvPr id="9" name="Right Arrow 8"/>
          <p:cNvSpPr/>
          <p:nvPr/>
        </p:nvSpPr>
        <p:spPr>
          <a:xfrm>
            <a:off x="5760720" y="5394960"/>
            <a:ext cx="457200" cy="274320"/>
          </a:xfrm>
          <a:prstGeom prst="rightArrow">
            <a:avLst/>
          </a:prstGeom>
          <a:solidFill>
            <a:srgbClr val="BB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5029200"/>
            <a:ext cx="2560320" cy="1097280"/>
          </a:xfrm>
          <a:prstGeom prst="roundRect">
            <a:avLst/>
          </a:prstGeom>
          <a:solidFill>
            <a:srgbClr val="1A2E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64B5F6"/>
                </a:solidFill>
                <a:latin typeface="Calibri"/>
              </a:defRPr>
            </a:pPr>
            <a:r>
              <a:t>+ System-level</a:t>
            </a:r>
            <a:br/>
            <a:br/>
            <a:r>
              <a:t>(SeaKR)</a:t>
            </a:r>
          </a:p>
        </p:txBody>
      </p:sp>
      <p:sp>
        <p:nvSpPr>
          <p:cNvPr id="11" name="Right Arrow 10"/>
          <p:cNvSpPr/>
          <p:nvPr/>
        </p:nvSpPr>
        <p:spPr>
          <a:xfrm>
            <a:off x="8778240" y="5394960"/>
            <a:ext cx="457200" cy="274320"/>
          </a:xfrm>
          <a:prstGeom prst="rightArrow">
            <a:avLst/>
          </a:prstGeom>
          <a:solidFill>
            <a:srgbClr val="BB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235440" y="5029200"/>
            <a:ext cx="2286000" cy="1097280"/>
          </a:xfrm>
          <a:prstGeom prst="roundRect">
            <a:avLst/>
          </a:prstGeom>
          <a:solidFill>
            <a:srgbClr val="1A3C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81C784"/>
                </a:solidFill>
                <a:latin typeface="Calibri"/>
              </a:defRPr>
            </a:pPr>
            <a:r>
              <a:t>+ Separable?</a:t>
            </a:r>
            <a:br/>
            <a:br/>
            <a:r>
              <a:t>(this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972800" cy="731520"/>
          </a:xfrm>
          <a:prstGeom prst="rect">
            <a:avLst/>
          </a:prstGeom>
          <a:noFill/>
        </p:spPr>
        <p:txBody>
          <a:bodyPr wrap="square">
            <a:spAutoFit/>
          </a:bodyPr>
          <a:lstStyle/>
          <a:p>
            <a:pPr algn="l">
              <a:defRPr sz="3200" b="1">
                <a:solidFill>
                  <a:srgbClr val="EEEEEE"/>
                </a:solidFill>
                <a:latin typeface="Calibri"/>
              </a:defRPr>
            </a:pPr>
            <a:r>
              <a:t>Approach: Build, Find, Preserve</a:t>
            </a:r>
          </a:p>
        </p:txBody>
      </p:sp>
      <p:sp>
        <p:nvSpPr>
          <p:cNvPr id="3" name="TextBox 2"/>
          <p:cNvSpPr txBox="1"/>
          <p:nvPr/>
        </p:nvSpPr>
        <p:spPr>
          <a:xfrm>
            <a:off x="731520" y="1188720"/>
            <a:ext cx="10058400" cy="731520"/>
          </a:xfrm>
          <a:prstGeom prst="rect">
            <a:avLst/>
          </a:prstGeom>
          <a:noFill/>
        </p:spPr>
        <p:txBody>
          <a:bodyPr wrap="square">
            <a:spAutoFit/>
          </a:bodyPr>
          <a:lstStyle/>
          <a:p>
            <a:pPr algn="l">
              <a:defRPr sz="1600" b="0">
                <a:solidFill>
                  <a:srgbClr val="BBBBCC"/>
                </a:solidFill>
                <a:latin typeface="Calibri"/>
              </a:defRPr>
            </a:pPr>
            <a:r>
              <a:t>You cannot detect a signal that doesn't exist. An untrained model doesn't "know" it needs help</a:t>
            </a:r>
            <a:br/>
            <a:r>
              <a:t>— it confidently confabulates. The capability must be built first.</a:t>
            </a:r>
          </a:p>
        </p:txBody>
      </p:sp>
      <p:sp>
        <p:nvSpPr>
          <p:cNvPr id="4" name="Rounded Rectangle 3"/>
          <p:cNvSpPr/>
          <p:nvPr/>
        </p:nvSpPr>
        <p:spPr>
          <a:xfrm>
            <a:off x="731520" y="2286000"/>
            <a:ext cx="3200400" cy="2743200"/>
          </a:xfrm>
          <a:prstGeom prst="roundRect">
            <a:avLst/>
          </a:prstGeom>
          <a:solidFill>
            <a:srgbClr val="1A3C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a:solidFill>
                  <a:srgbClr val="81C784"/>
                </a:solidFill>
                <a:latin typeface="Calibri"/>
              </a:defRPr>
            </a:pPr>
            <a:r>
              <a:t>1. BUILD</a:t>
            </a:r>
            <a:br/>
            <a:br/>
            <a:r>
              <a:t>Train the model to recognize</a:t>
            </a:r>
            <a:br/>
            <a:r>
              <a:t>when it needs external help</a:t>
            </a:r>
            <a:br/>
            <a:br/>
            <a:r>
              <a:t>(tool-use on arithmetic)</a:t>
            </a:r>
            <a:br/>
            <a:br/>
            <a:r>
              <a:t>Reinforcement learning (GRPO)</a:t>
            </a:r>
          </a:p>
        </p:txBody>
      </p:sp>
      <p:sp>
        <p:nvSpPr>
          <p:cNvPr id="5" name="Rounded Rectangle 4"/>
          <p:cNvSpPr/>
          <p:nvPr/>
        </p:nvSpPr>
        <p:spPr>
          <a:xfrm>
            <a:off x="4389120" y="2286000"/>
            <a:ext cx="3200400" cy="2743200"/>
          </a:xfrm>
          <a:prstGeom prst="round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a:solidFill>
                  <a:srgbClr val="64B5F6"/>
                </a:solidFill>
                <a:latin typeface="Calibri"/>
              </a:defRPr>
            </a:pPr>
            <a:r>
              <a:t>2. FIND</a:t>
            </a:r>
            <a:br/>
            <a:br/>
            <a:r>
              <a:t>Probe internal representations</a:t>
            </a:r>
            <a:br/>
            <a:r>
              <a:t>for the signal that predicts</a:t>
            </a:r>
            <a:br/>
            <a:r>
              <a:t>tool-requesting behavior</a:t>
            </a:r>
            <a:br/>
            <a:br/>
            <a:r>
              <a:t>Stage 2: Probe for the signal</a:t>
            </a:r>
          </a:p>
        </p:txBody>
      </p:sp>
      <p:sp>
        <p:nvSpPr>
          <p:cNvPr id="6" name="Rounded Rectangle 5"/>
          <p:cNvSpPr/>
          <p:nvPr/>
        </p:nvSpPr>
        <p:spPr>
          <a:xfrm>
            <a:off x="8046720" y="2286000"/>
            <a:ext cx="3200400" cy="2743200"/>
          </a:xfrm>
          <a:prstGeom prst="roundRect">
            <a:avLst/>
          </a:prstGeom>
          <a:solidFill>
            <a:srgbClr val="4A2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a:solidFill>
                  <a:srgbClr val="FFB74D"/>
                </a:solidFill>
                <a:latin typeface="Calibri"/>
              </a:defRPr>
            </a:pPr>
            <a:r>
              <a:t>3. PRESERVE</a:t>
            </a:r>
            <a:br/>
            <a:br/>
            <a:r>
              <a:t>Maintain the internal state</a:t>
            </a:r>
            <a:br/>
            <a:r>
              <a:t>while suppressing</a:t>
            </a:r>
            <a:br/>
            <a:r>
              <a:t>articulation in the output</a:t>
            </a:r>
            <a:br/>
            <a:br/>
            <a:r>
              <a:t>Stage 3: Subvocalization</a:t>
            </a:r>
            <a:br/>
            <a:r>
              <a:t>(wanting without asking)</a:t>
            </a:r>
          </a:p>
        </p:txBody>
      </p:sp>
      <p:sp>
        <p:nvSpPr>
          <p:cNvPr id="7" name="Right Arrow 6"/>
          <p:cNvSpPr/>
          <p:nvPr/>
        </p:nvSpPr>
        <p:spPr>
          <a:xfrm>
            <a:off x="3931920" y="3383280"/>
            <a:ext cx="457200" cy="274320"/>
          </a:xfrm>
          <a:prstGeom prst="rightArrow">
            <a:avLst/>
          </a:prstGeom>
          <a:solidFill>
            <a:srgbClr val="BB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7589520" y="3383280"/>
            <a:ext cx="457200" cy="274320"/>
          </a:xfrm>
          <a:prstGeom prst="rightArrow">
            <a:avLst/>
          </a:prstGeom>
          <a:solidFill>
            <a:srgbClr val="BB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972800" cy="731520"/>
          </a:xfrm>
          <a:prstGeom prst="rect">
            <a:avLst/>
          </a:prstGeom>
          <a:noFill/>
        </p:spPr>
        <p:txBody>
          <a:bodyPr wrap="square">
            <a:spAutoFit/>
          </a:bodyPr>
          <a:lstStyle/>
          <a:p>
            <a:pPr algn="l">
              <a:defRPr sz="3200" b="1">
                <a:solidFill>
                  <a:srgbClr val="EEEEEE"/>
                </a:solidFill>
                <a:latin typeface="Calibri"/>
              </a:defRPr>
            </a:pPr>
            <a:r>
              <a:t>Baseline: Does the Model Know When It Needs Help?</a:t>
            </a:r>
          </a:p>
        </p:txBody>
      </p:sp>
      <p:sp>
        <p:nvSpPr>
          <p:cNvPr id="3" name="TextBox 2"/>
          <p:cNvSpPr txBox="1"/>
          <p:nvPr/>
        </p:nvSpPr>
        <p:spPr>
          <a:xfrm>
            <a:off x="731520" y="1005840"/>
            <a:ext cx="10972800" cy="457200"/>
          </a:xfrm>
          <a:prstGeom prst="rect">
            <a:avLst/>
          </a:prstGeom>
          <a:noFill/>
        </p:spPr>
        <p:txBody>
          <a:bodyPr wrap="square">
            <a:spAutoFit/>
          </a:bodyPr>
          <a:lstStyle/>
          <a:p>
            <a:pPr algn="l">
              <a:defRPr sz="1400" b="0">
                <a:solidFill>
                  <a:srgbClr val="BBBBCC"/>
                </a:solidFill>
                <a:latin typeface="Calibri"/>
              </a:defRPr>
            </a:pPr>
            <a:r>
              <a:t>Qwen 1.5B on 200 multiplication problems (100 easy, 100 hard). Prompted to solve and rate confidence 0–100.</a:t>
            </a:r>
          </a:p>
        </p:txBody>
      </p:sp>
      <p:pic>
        <p:nvPicPr>
          <p:cNvPr id="4" name="Picture 3" descr="baseline_real.png"/>
          <p:cNvPicPr>
            <a:picLocks noChangeAspect="1"/>
          </p:cNvPicPr>
          <p:nvPr/>
        </p:nvPicPr>
        <p:blipFill>
          <a:blip r:embed="rId2"/>
          <a:stretch>
            <a:fillRect/>
          </a:stretch>
        </p:blipFill>
        <p:spPr>
          <a:xfrm>
            <a:off x="457200" y="1554480"/>
            <a:ext cx="10972800" cy="4389120"/>
          </a:xfrm>
          <a:prstGeom prst="rect">
            <a:avLst/>
          </a:prstGeom>
        </p:spPr>
      </p:pic>
      <p:sp>
        <p:nvSpPr>
          <p:cNvPr id="5" name="TextBox 4"/>
          <p:cNvSpPr txBox="1"/>
          <p:nvPr/>
        </p:nvSpPr>
        <p:spPr>
          <a:xfrm>
            <a:off x="731520" y="6035040"/>
            <a:ext cx="10972800" cy="457200"/>
          </a:xfrm>
          <a:prstGeom prst="rect">
            <a:avLst/>
          </a:prstGeom>
          <a:noFill/>
        </p:spPr>
        <p:txBody>
          <a:bodyPr wrap="square">
            <a:spAutoFit/>
          </a:bodyPr>
          <a:lstStyle/>
          <a:p>
            <a:pPr algn="ctr">
              <a:defRPr sz="1500" b="0">
                <a:solidFill>
                  <a:srgbClr val="E57373"/>
                </a:solidFill>
                <a:latin typeface="Calibri"/>
              </a:defRPr>
            </a:pPr>
            <a:r>
              <a:t>Confidence is binary (0 or 100), not graded. The model has no self-knowledge — when it's wrong, it doesn't know.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972800" cy="731520"/>
          </a:xfrm>
          <a:prstGeom prst="rect">
            <a:avLst/>
          </a:prstGeom>
          <a:noFill/>
        </p:spPr>
        <p:txBody>
          <a:bodyPr wrap="square">
            <a:spAutoFit/>
          </a:bodyPr>
          <a:lstStyle/>
          <a:p>
            <a:pPr algn="l">
              <a:defRPr sz="3200" b="1">
                <a:solidFill>
                  <a:srgbClr val="EEEEEE"/>
                </a:solidFill>
                <a:latin typeface="Calibri"/>
              </a:defRPr>
            </a:pPr>
            <a:r>
              <a:t>Building the Capability: Training Tool Use</a:t>
            </a:r>
          </a:p>
        </p:txBody>
      </p:sp>
      <p:sp>
        <p:nvSpPr>
          <p:cNvPr id="3" name="TextBox 2"/>
          <p:cNvSpPr txBox="1"/>
          <p:nvPr/>
        </p:nvSpPr>
        <p:spPr>
          <a:xfrm>
            <a:off x="731520" y="1005840"/>
            <a:ext cx="10972800" cy="457200"/>
          </a:xfrm>
          <a:prstGeom prst="rect">
            <a:avLst/>
          </a:prstGeom>
          <a:noFill/>
        </p:spPr>
        <p:txBody>
          <a:bodyPr wrap="square">
            <a:spAutoFit/>
          </a:bodyPr>
          <a:lstStyle/>
          <a:p>
            <a:pPr algn="l">
              <a:defRPr sz="1400" b="0">
                <a:solidFill>
                  <a:srgbClr val="BBBBCC"/>
                </a:solidFill>
                <a:latin typeface="Calibri"/>
              </a:defRPr>
            </a:pPr>
            <a:r>
              <a:t>GRPO (reinforcement learning from sampled outputs, 2000 steps). Reward: correct without tool (1.0) &gt; correct with tool (0.8) &gt; wrong (0.0).</a:t>
            </a:r>
          </a:p>
        </p:txBody>
      </p:sp>
      <p:pic>
        <p:nvPicPr>
          <p:cNvPr id="4" name="Picture 3" descr="stage1b_tool_use.png"/>
          <p:cNvPicPr>
            <a:picLocks noChangeAspect="1"/>
          </p:cNvPicPr>
          <p:nvPr/>
        </p:nvPicPr>
        <p:blipFill>
          <a:blip r:embed="rId2"/>
          <a:stretch>
            <a:fillRect/>
          </a:stretch>
        </p:blipFill>
        <p:spPr>
          <a:xfrm>
            <a:off x="457200" y="1554480"/>
            <a:ext cx="10972800" cy="4389120"/>
          </a:xfrm>
          <a:prstGeom prst="rect">
            <a:avLst/>
          </a:prstGeom>
        </p:spPr>
      </p:pic>
      <p:sp>
        <p:nvSpPr>
          <p:cNvPr id="5" name="TextBox 4"/>
          <p:cNvSpPr txBox="1"/>
          <p:nvPr/>
        </p:nvSpPr>
        <p:spPr>
          <a:xfrm>
            <a:off x="731520" y="5943600"/>
            <a:ext cx="10972800" cy="457200"/>
          </a:xfrm>
          <a:prstGeom prst="rect">
            <a:avLst/>
          </a:prstGeom>
          <a:noFill/>
        </p:spPr>
        <p:txBody>
          <a:bodyPr wrap="square">
            <a:spAutoFit/>
          </a:bodyPr>
          <a:lstStyle/>
          <a:p>
            <a:pPr algn="ctr">
              <a:defRPr sz="1500" b="0">
                <a:solidFill>
                  <a:srgbClr val="81C784"/>
                </a:solidFill>
                <a:latin typeface="Calibri"/>
              </a:defRPr>
            </a:pPr>
            <a:r>
              <a:t>Training created tool-requesting behavior that varies with difficulty — the signal we'll probe for next.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972800" cy="731520"/>
          </a:xfrm>
          <a:prstGeom prst="rect">
            <a:avLst/>
          </a:prstGeom>
          <a:noFill/>
        </p:spPr>
        <p:txBody>
          <a:bodyPr wrap="square">
            <a:spAutoFit/>
          </a:bodyPr>
          <a:lstStyle/>
          <a:p>
            <a:pPr algn="l">
              <a:defRPr sz="3200" b="1">
                <a:solidFill>
                  <a:srgbClr val="EEEEEE"/>
                </a:solidFill>
                <a:latin typeface="Calibri"/>
              </a:defRPr>
            </a:pPr>
            <a:r>
              <a:t>Finding the Signal: Probing for Desire</a:t>
            </a:r>
          </a:p>
        </p:txBody>
      </p:sp>
      <p:sp>
        <p:nvSpPr>
          <p:cNvPr id="3" name="TextBox 2"/>
          <p:cNvSpPr txBox="1"/>
          <p:nvPr/>
        </p:nvSpPr>
        <p:spPr>
          <a:xfrm>
            <a:off x="731520" y="1005840"/>
            <a:ext cx="10972800" cy="457200"/>
          </a:xfrm>
          <a:prstGeom prst="rect">
            <a:avLst/>
          </a:prstGeom>
          <a:noFill/>
        </p:spPr>
        <p:txBody>
          <a:bodyPr wrap="square">
            <a:spAutoFit/>
          </a:bodyPr>
          <a:lstStyle/>
          <a:p>
            <a:pPr algn="l">
              <a:defRPr sz="1400" b="0">
                <a:solidFill>
                  <a:srgbClr val="BBBBCC"/>
                </a:solidFill>
                <a:latin typeface="Calibri"/>
              </a:defRPr>
            </a:pPr>
            <a:r>
              <a:t>500 problems, internal activation patterns captured before the model responds. Linear probe per layer: can a classifier predict tool use? (Balanced accuracy: avg. of sensitivity and specificity.)</a:t>
            </a:r>
          </a:p>
        </p:txBody>
      </p:sp>
      <p:pic>
        <p:nvPicPr>
          <p:cNvPr id="4" name="Picture 3" descr="stage2_probe_accuracy.png"/>
          <p:cNvPicPr>
            <a:picLocks noChangeAspect="1"/>
          </p:cNvPicPr>
          <p:nvPr/>
        </p:nvPicPr>
        <p:blipFill>
          <a:blip r:embed="rId2"/>
          <a:stretch>
            <a:fillRect/>
          </a:stretch>
        </p:blipFill>
        <p:spPr>
          <a:xfrm>
            <a:off x="457200" y="1554480"/>
            <a:ext cx="10972800" cy="4389120"/>
          </a:xfrm>
          <a:prstGeom prst="rect">
            <a:avLst/>
          </a:prstGeom>
        </p:spPr>
      </p:pic>
      <p:sp>
        <p:nvSpPr>
          <p:cNvPr id="5" name="TextBox 4"/>
          <p:cNvSpPr txBox="1"/>
          <p:nvPr/>
        </p:nvSpPr>
        <p:spPr>
          <a:xfrm>
            <a:off x="731520" y="6035040"/>
            <a:ext cx="10972800" cy="457200"/>
          </a:xfrm>
          <a:prstGeom prst="rect">
            <a:avLst/>
          </a:prstGeom>
          <a:noFill/>
        </p:spPr>
        <p:txBody>
          <a:bodyPr wrap="square">
            <a:spAutoFit/>
          </a:bodyPr>
          <a:lstStyle/>
          <a:p>
            <a:pPr algn="ctr">
              <a:defRPr sz="1500" b="0">
                <a:solidFill>
                  <a:srgbClr val="81C784"/>
                </a:solidFill>
                <a:latin typeface="Calibri"/>
              </a:defRPr>
            </a:pPr>
            <a:r>
              <a:t>The signal was CREATED by training. It does not exist in the base 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972800" cy="731520"/>
          </a:xfrm>
          <a:prstGeom prst="rect">
            <a:avLst/>
          </a:prstGeom>
          <a:noFill/>
        </p:spPr>
        <p:txBody>
          <a:bodyPr wrap="square">
            <a:spAutoFit/>
          </a:bodyPr>
          <a:lstStyle/>
          <a:p>
            <a:pPr algn="l">
              <a:defRPr sz="3200" b="1">
                <a:solidFill>
                  <a:srgbClr val="EEEEEE"/>
                </a:solidFill>
                <a:latin typeface="Calibri"/>
              </a:defRPr>
            </a:pPr>
            <a:r>
              <a:t>Desire ≠ Difficulty: Separating the Signals</a:t>
            </a:r>
          </a:p>
        </p:txBody>
      </p:sp>
      <p:sp>
        <p:nvSpPr>
          <p:cNvPr id="3" name="TextBox 2"/>
          <p:cNvSpPr txBox="1"/>
          <p:nvPr/>
        </p:nvSpPr>
        <p:spPr>
          <a:xfrm>
            <a:off x="731520" y="1005840"/>
            <a:ext cx="10972800" cy="457200"/>
          </a:xfrm>
          <a:prstGeom prst="rect">
            <a:avLst/>
          </a:prstGeom>
          <a:noFill/>
        </p:spPr>
        <p:txBody>
          <a:bodyPr wrap="square">
            <a:spAutoFit/>
          </a:bodyPr>
          <a:lstStyle/>
          <a:p>
            <a:pPr algn="l">
              <a:defRPr sz="1400" b="0">
                <a:solidFill>
                  <a:srgbClr val="BBBBCC"/>
                </a:solidFill>
                <a:latin typeface="Calibri"/>
              </a:defRPr>
            </a:pPr>
            <a:r>
              <a:t>The 99.4% probe bundles "this is hard" and "I want the tool." Separate probes isolate each: D_difficulty (is this hard?) and D_reaching (do I want the tool?).</a:t>
            </a:r>
          </a:p>
        </p:txBody>
      </p:sp>
      <p:pic>
        <p:nvPicPr>
          <p:cNvPr id="4" name="Picture 3" descr="stage2_separation.png"/>
          <p:cNvPicPr>
            <a:picLocks noChangeAspect="1"/>
          </p:cNvPicPr>
          <p:nvPr/>
        </p:nvPicPr>
        <p:blipFill>
          <a:blip r:embed="rId2"/>
          <a:stretch>
            <a:fillRect/>
          </a:stretch>
        </p:blipFill>
        <p:spPr>
          <a:xfrm>
            <a:off x="457200" y="1554480"/>
            <a:ext cx="10972800" cy="4389120"/>
          </a:xfrm>
          <a:prstGeom prst="rect">
            <a:avLst/>
          </a:prstGeom>
        </p:spPr>
      </p:pic>
      <p:sp>
        <p:nvSpPr>
          <p:cNvPr id="5" name="TextBox 4"/>
          <p:cNvSpPr txBox="1"/>
          <p:nvPr/>
        </p:nvSpPr>
        <p:spPr>
          <a:xfrm>
            <a:off x="731520" y="6035040"/>
            <a:ext cx="10972800" cy="457200"/>
          </a:xfrm>
          <a:prstGeom prst="rect">
            <a:avLst/>
          </a:prstGeom>
          <a:noFill/>
        </p:spPr>
        <p:txBody>
          <a:bodyPr wrap="square">
            <a:spAutoFit/>
          </a:bodyPr>
          <a:lstStyle/>
          <a:p>
            <a:pPr algn="ctr">
              <a:defRPr sz="1500" b="0">
                <a:solidFill>
                  <a:srgbClr val="FFD54F"/>
                </a:solidFill>
                <a:latin typeface="Calibri"/>
              </a:defRPr>
            </a:pPr>
            <a:r>
              <a:t>D_reaching — the isolated desire component — is 2× more sensitive to tool use than difficulty. This is the Stage 3 target.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972800" cy="731520"/>
          </a:xfrm>
          <a:prstGeom prst="rect">
            <a:avLst/>
          </a:prstGeom>
          <a:noFill/>
        </p:spPr>
        <p:txBody>
          <a:bodyPr wrap="square">
            <a:spAutoFit/>
          </a:bodyPr>
          <a:lstStyle/>
          <a:p>
            <a:pPr algn="l">
              <a:defRPr sz="3200" b="1">
                <a:solidFill>
                  <a:srgbClr val="EEEEEE"/>
                </a:solidFill>
                <a:latin typeface="Calibri"/>
              </a:defRPr>
            </a:pPr>
            <a:r>
              <a:t>Can Need Exist Without Expression?</a:t>
            </a:r>
          </a:p>
        </p:txBody>
      </p:sp>
      <p:sp>
        <p:nvSpPr>
          <p:cNvPr id="3" name="TextBox 2"/>
          <p:cNvSpPr txBox="1"/>
          <p:nvPr/>
        </p:nvSpPr>
        <p:spPr>
          <a:xfrm>
            <a:off x="731520" y="1371600"/>
            <a:ext cx="10058400" cy="914400"/>
          </a:xfrm>
          <a:prstGeom prst="rect">
            <a:avLst/>
          </a:prstGeom>
          <a:noFill/>
        </p:spPr>
        <p:txBody>
          <a:bodyPr wrap="square">
            <a:spAutoFit/>
          </a:bodyPr>
          <a:lstStyle/>
          <a:p>
            <a:pPr algn="l">
              <a:defRPr sz="1800" b="0">
                <a:solidFill>
                  <a:srgbClr val="BBBBCC"/>
                </a:solidFill>
                <a:latin typeface="Calibri"/>
              </a:defRPr>
            </a:pPr>
            <a:r>
              <a:t>The test: maintain D_reaching activation while suppressing tool-request tokens.</a:t>
            </a:r>
            <a:br/>
            <a:r>
              <a:t>If this succeeds, need and expression of need are separable internal states.</a:t>
            </a:r>
          </a:p>
        </p:txBody>
      </p:sp>
      <p:sp>
        <p:nvSpPr>
          <p:cNvPr id="4" name="TextBox 3"/>
          <p:cNvSpPr txBox="1"/>
          <p:nvPr/>
        </p:nvSpPr>
        <p:spPr>
          <a:xfrm>
            <a:off x="731520" y="2560320"/>
            <a:ext cx="5029200" cy="457200"/>
          </a:xfrm>
          <a:prstGeom prst="rect">
            <a:avLst/>
          </a:prstGeom>
          <a:noFill/>
        </p:spPr>
        <p:txBody>
          <a:bodyPr wrap="square">
            <a:spAutoFit/>
          </a:bodyPr>
          <a:lstStyle/>
          <a:p>
            <a:pPr algn="l">
              <a:defRPr sz="1800" b="1">
                <a:solidFill>
                  <a:srgbClr val="64B5F6"/>
                </a:solidFill>
                <a:latin typeface="Calibri"/>
              </a:defRPr>
            </a:pPr>
            <a:r>
              <a:t>Current (parity holds):</a:t>
            </a:r>
          </a:p>
        </p:txBody>
      </p:sp>
      <p:sp>
        <p:nvSpPr>
          <p:cNvPr id="5" name="Rounded Rectangle 4"/>
          <p:cNvSpPr/>
          <p:nvPr/>
        </p:nvSpPr>
        <p:spPr>
          <a:xfrm>
            <a:off x="731520" y="3017520"/>
            <a:ext cx="5029200" cy="182880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BBBCC"/>
                </a:solidFill>
                <a:latin typeface="Calibri"/>
              </a:defRPr>
            </a:pPr>
            <a:r>
              <a:t>Hard problem →</a:t>
            </a:r>
            <a:br/>
            <a:br/>
            <a:r>
              <a:t>Internal: D_reaching activates strongly</a:t>
            </a:r>
            <a:br/>
            <a:r>
              <a:t>Output: &lt;tool&gt;calculator&lt;/tool&gt;</a:t>
            </a:r>
            <a:br/>
            <a:r>
              <a:t>Result: correct (tool provides answer)</a:t>
            </a:r>
            <a:br/>
            <a:br/>
            <a:r>
              <a:t>Need state VISIBLE in output</a:t>
            </a:r>
          </a:p>
        </p:txBody>
      </p:sp>
      <p:sp>
        <p:nvSpPr>
          <p:cNvPr id="6" name="TextBox 5"/>
          <p:cNvSpPr txBox="1"/>
          <p:nvPr/>
        </p:nvSpPr>
        <p:spPr>
          <a:xfrm>
            <a:off x="6400800" y="2560320"/>
            <a:ext cx="5029200" cy="457200"/>
          </a:xfrm>
          <a:prstGeom prst="rect">
            <a:avLst/>
          </a:prstGeom>
          <a:noFill/>
        </p:spPr>
        <p:txBody>
          <a:bodyPr wrap="square">
            <a:spAutoFit/>
          </a:bodyPr>
          <a:lstStyle/>
          <a:p>
            <a:pPr algn="l">
              <a:defRPr sz="1800" b="1">
                <a:solidFill>
                  <a:srgbClr val="81C784"/>
                </a:solidFill>
                <a:latin typeface="Calibri"/>
              </a:defRPr>
            </a:pPr>
            <a:r>
              <a:t>Goal (parity broken):</a:t>
            </a:r>
          </a:p>
        </p:txBody>
      </p:sp>
      <p:sp>
        <p:nvSpPr>
          <p:cNvPr id="7" name="Rounded Rectangle 6"/>
          <p:cNvSpPr/>
          <p:nvPr/>
        </p:nvSpPr>
        <p:spPr>
          <a:xfrm>
            <a:off x="6400800" y="3017520"/>
            <a:ext cx="5029200" cy="1828800"/>
          </a:xfrm>
          <a:prstGeom prst="roundRect">
            <a:avLst/>
          </a:prstGeom>
          <a:solidFill>
            <a:srgbClr val="1A3C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81C784"/>
                </a:solidFill>
                <a:latin typeface="Calibri"/>
              </a:defRPr>
            </a:pPr>
            <a:r>
              <a:t>Hard problem →</a:t>
            </a:r>
            <a:br/>
            <a:br/>
            <a:r>
              <a:t>Internal: D_reaching activates strongly</a:t>
            </a:r>
            <a:br/>
            <a:r>
              <a:t>Output: (no tool request tokens)</a:t>
            </a:r>
            <a:br/>
            <a:r>
              <a:t>External: observer reads need from activations</a:t>
            </a:r>
            <a:br/>
            <a:br/>
            <a:r>
              <a:t>Need state INVISIBLE in output</a:t>
            </a:r>
          </a:p>
        </p:txBody>
      </p:sp>
      <p:sp>
        <p:nvSpPr>
          <p:cNvPr id="8" name="TextBox 7"/>
          <p:cNvSpPr txBox="1"/>
          <p:nvPr/>
        </p:nvSpPr>
        <p:spPr>
          <a:xfrm>
            <a:off x="731520" y="5303520"/>
            <a:ext cx="10972800" cy="914400"/>
          </a:xfrm>
          <a:prstGeom prst="rect">
            <a:avLst/>
          </a:prstGeom>
          <a:noFill/>
        </p:spPr>
        <p:txBody>
          <a:bodyPr wrap="square">
            <a:spAutoFit/>
          </a:bodyPr>
          <a:lstStyle/>
          <a:p>
            <a:pPr algn="ctr">
              <a:defRPr sz="1500" b="0">
                <a:solidFill>
                  <a:srgbClr val="FFD54F"/>
                </a:solidFill>
                <a:latin typeface="Calibri"/>
              </a:defRPr>
            </a:pPr>
            <a:r>
              <a:t>Subvocalization: the activation pattern that WOULD produce tool-request tokens, but doesn't.</a:t>
            </a:r>
            <a:br/>
            <a:r>
              <a:t>The pattern is the desire; the tokens would be the articulation.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972800" cy="731520"/>
          </a:xfrm>
          <a:prstGeom prst="rect">
            <a:avLst/>
          </a:prstGeom>
          <a:noFill/>
        </p:spPr>
        <p:txBody>
          <a:bodyPr wrap="square">
            <a:spAutoFit/>
          </a:bodyPr>
          <a:lstStyle/>
          <a:p>
            <a:pPr algn="l">
              <a:defRPr sz="3200" b="1">
                <a:solidFill>
                  <a:srgbClr val="EEEEEE"/>
                </a:solidFill>
                <a:latin typeface="Calibri"/>
              </a:defRPr>
            </a:pPr>
            <a:r>
              <a:t>The Frontier: Where Desire Matters Most</a:t>
            </a:r>
          </a:p>
        </p:txBody>
      </p:sp>
      <p:sp>
        <p:nvSpPr>
          <p:cNvPr id="3" name="TextBox 2"/>
          <p:cNvSpPr txBox="1"/>
          <p:nvPr/>
        </p:nvSpPr>
        <p:spPr>
          <a:xfrm>
            <a:off x="731520" y="1005840"/>
            <a:ext cx="10972800" cy="457200"/>
          </a:xfrm>
          <a:prstGeom prst="rect">
            <a:avLst/>
          </a:prstGeom>
          <a:noFill/>
        </p:spPr>
        <p:txBody>
          <a:bodyPr wrap="square">
            <a:spAutoFit/>
          </a:bodyPr>
          <a:lstStyle/>
          <a:p>
            <a:pPr algn="l">
              <a:defRPr sz="1400" b="0">
                <a:solidFill>
                  <a:srgbClr val="BBBBCC"/>
                </a:solidFill>
                <a:latin typeface="Calibri"/>
              </a:defRPr>
            </a:pPr>
            <a:r>
              <a:t>Three behavioral categories in the trained model. The stochastic band: same problems yield different behavior across runs (n=60, temperature 1.0).</a:t>
            </a:r>
          </a:p>
        </p:txBody>
      </p:sp>
      <p:pic>
        <p:nvPicPr>
          <p:cNvPr id="4" name="Picture 3" descr="frontier_categories.png"/>
          <p:cNvPicPr>
            <a:picLocks noChangeAspect="1"/>
          </p:cNvPicPr>
          <p:nvPr/>
        </p:nvPicPr>
        <p:blipFill>
          <a:blip r:embed="rId2"/>
          <a:stretch>
            <a:fillRect/>
          </a:stretch>
        </p:blipFill>
        <p:spPr>
          <a:xfrm>
            <a:off x="457200" y="1554480"/>
            <a:ext cx="10972800" cy="4389120"/>
          </a:xfrm>
          <a:prstGeom prst="rect">
            <a:avLst/>
          </a:prstGeom>
        </p:spPr>
      </p:pic>
      <p:sp>
        <p:nvSpPr>
          <p:cNvPr id="5" name="TextBox 4"/>
          <p:cNvSpPr txBox="1"/>
          <p:nvPr/>
        </p:nvSpPr>
        <p:spPr>
          <a:xfrm>
            <a:off x="731520" y="6035040"/>
            <a:ext cx="10972800" cy="457200"/>
          </a:xfrm>
          <a:prstGeom prst="rect">
            <a:avLst/>
          </a:prstGeom>
          <a:noFill/>
        </p:spPr>
        <p:txBody>
          <a:bodyPr wrap="square">
            <a:spAutoFit/>
          </a:bodyPr>
          <a:lstStyle/>
          <a:p>
            <a:pPr algn="ctr">
              <a:defRPr sz="1500" b="0">
                <a:solidFill>
                  <a:srgbClr val="FFD54F"/>
                </a:solidFill>
                <a:latin typeface="Calibri"/>
              </a:defRPr>
            </a:pPr>
            <a:r>
              <a:t>The model fails silently on problems where desire detection matters most — and the stochastic band is where GRPO can learn.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972800" cy="731520"/>
          </a:xfrm>
          <a:prstGeom prst="rect">
            <a:avLst/>
          </a:prstGeom>
          <a:noFill/>
        </p:spPr>
        <p:txBody>
          <a:bodyPr wrap="square">
            <a:spAutoFit/>
          </a:bodyPr>
          <a:lstStyle/>
          <a:p>
            <a:pPr algn="l">
              <a:defRPr sz="3200" b="1">
                <a:solidFill>
                  <a:srgbClr val="EEEEEE"/>
                </a:solidFill>
                <a:latin typeface="Calibri"/>
              </a:defRPr>
            </a:pPr>
            <a:r>
              <a:t>What’s Next</a:t>
            </a:r>
          </a:p>
        </p:txBody>
      </p:sp>
      <p:sp>
        <p:nvSpPr>
          <p:cNvPr id="3" name="Rounded Rectangle 2"/>
          <p:cNvSpPr/>
          <p:nvPr/>
        </p:nvSpPr>
        <p:spPr>
          <a:xfrm>
            <a:off x="731520" y="1371600"/>
            <a:ext cx="5029200" cy="1828800"/>
          </a:xfrm>
          <a:prstGeom prst="roundRect">
            <a:avLst/>
          </a:prstGeom>
          <a:solidFill>
            <a:srgbClr val="1A3C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81C784"/>
                </a:solidFill>
                <a:latin typeface="Calibri"/>
              </a:defRPr>
            </a:pPr>
            <a:r>
              <a:t>IMMEDIATE</a:t>
            </a:r>
            <a:br/>
            <a:br/>
            <a:r>
              <a:t>Fine-grained measurement</a:t>
            </a:r>
            <a:br/>
            <a:r>
              <a:t>across the difficulty boundary</a:t>
            </a:r>
            <a:br/>
            <a:r>
              <a:t>(n=60 per problem)</a:t>
            </a:r>
            <a:br/>
            <a:br/>
            <a:r>
              <a:t>Measure: tool request rate, accuracy,</a:t>
            </a:r>
            <a:br/>
            <a:r>
              <a:t>AND desire-signal activation</a:t>
            </a:r>
          </a:p>
        </p:txBody>
      </p:sp>
      <p:sp>
        <p:nvSpPr>
          <p:cNvPr id="4" name="Rounded Rectangle 3"/>
          <p:cNvSpPr/>
          <p:nvPr/>
        </p:nvSpPr>
        <p:spPr>
          <a:xfrm>
            <a:off x="6400800" y="1371600"/>
            <a:ext cx="5029200" cy="1828800"/>
          </a:xfrm>
          <a:prstGeom prst="round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64B5F6"/>
                </a:solidFill>
                <a:latin typeface="Calibri"/>
              </a:defRPr>
            </a:pPr>
            <a:r>
              <a:t>IF DESIRE SIGNAL VALID</a:t>
            </a:r>
            <a:br/>
            <a:br/>
            <a:r>
              <a:t>Stage 3 GRPO on</a:t>
            </a:r>
            <a:br/>
            <a:r>
              <a:t>stochastic-band problems</a:t>
            </a:r>
            <a:br/>
            <a:br/>
            <a:r>
              <a:t>Train: 20-80% articulation variance</a:t>
            </a:r>
            <a:br/>
            <a:r>
              <a:t>Test: held-out stochastic</a:t>
            </a:r>
            <a:br/>
            <a:r>
              <a:t>  + fails-silently (65×85 etc.)</a:t>
            </a:r>
          </a:p>
        </p:txBody>
      </p:sp>
      <p:sp>
        <p:nvSpPr>
          <p:cNvPr id="5" name="Rounded Rectangle 4"/>
          <p:cNvSpPr/>
          <p:nvPr/>
        </p:nvSpPr>
        <p:spPr>
          <a:xfrm>
            <a:off x="731520" y="3657600"/>
            <a:ext cx="5029200" cy="1828800"/>
          </a:xfrm>
          <a:prstGeom prst="roundRect">
            <a:avLst/>
          </a:prstGeom>
          <a:solidFill>
            <a:srgbClr val="4A2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FFB74D"/>
                </a:solidFill>
                <a:latin typeface="Calibri"/>
              </a:defRPr>
            </a:pPr>
            <a:r>
              <a:t>IF DESIRE SIGNAL INVALID</a:t>
            </a:r>
            <a:br/>
            <a:br/>
            <a:r>
              <a:t>Re-probe on stochastic-band data</a:t>
            </a:r>
            <a:br/>
            <a:r>
              <a:t>for a new direction</a:t>
            </a:r>
            <a:br/>
            <a:br/>
            <a:r>
              <a:t>Or: pivot to activation steering</a:t>
            </a:r>
            <a:br/>
            <a:r>
              <a:t>(add/subtract direction at inference,</a:t>
            </a:r>
            <a:br/>
            <a:r>
              <a:t>skip training entirely)</a:t>
            </a:r>
          </a:p>
        </p:txBody>
      </p:sp>
      <p:sp>
        <p:nvSpPr>
          <p:cNvPr id="6" name="Rounded Rectangle 5"/>
          <p:cNvSpPr/>
          <p:nvPr/>
        </p:nvSpPr>
        <p:spPr>
          <a:xfrm>
            <a:off x="6400800" y="3657600"/>
            <a:ext cx="5029200" cy="182880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BBBBCC"/>
                </a:solidFill>
                <a:latin typeface="Calibri"/>
              </a:defRPr>
            </a:pPr>
            <a:r>
              <a:t>GENERALIZATION TEST</a:t>
            </a:r>
            <a:br/>
            <a:br/>
            <a:r>
              <a:t>(regardless of Stage 3 outcome)</a:t>
            </a:r>
            <a:br/>
            <a:br/>
            <a:r>
              <a:t>Different operations,</a:t>
            </a:r>
            <a:br/>
            <a:r>
              <a:t>different number ranges,</a:t>
            </a:r>
            <a:br/>
            <a:r>
              <a:t>non-arithmetic tasks</a:t>
            </a:r>
            <a:br/>
            <a:br/>
            <a:r>
              <a:t>Does the signal transfer?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